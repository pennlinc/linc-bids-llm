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257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goals today: give you a feel for how this actually works, then hand it over to you to break it and log feedback. The overview is short on purpose - most of the hour is you using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premise. A maintainer's debugging is a repeatable procedure: check prior reports, read the docs, grep the code at the right version. That's automatable - and the key is it always shows its sources, so you can verify.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tools today and growing - adding an app is mostly configuration. ~11,800 indexed snippets from our own issues, solved NeuroStars threads, and docs. The non-negotiable: every answer links back to where it came from.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each a real tool the model can call. The third is the differentiator - it greps the actual source at the version you ran, not a vague memory of the code. And it's allowed to reason, as long as it labels speculation and cites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half. We run two searches - semantic and keyword - and fuse them. That combination matters because tracebacks and flag names need exact matching, which embeddings blur. And note: we deliberately don't embed code; code questions are answered by grepping the real source at a tag.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cheap router triage. Most questions are FAQ-shaped and get a fast one-shot answer for pennies. Pasted tracebacks and code questions go to the agent, which costs more and takes longer but does real diagnosis. Spending is matched to difficulty.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the agent runs this loop. It checks the index, greps the code at your version, reads the raising line, and hands back a permalink you can click. The example is real from testing - a pasted ValueError resolved to the exact line at the version in the traceback.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tools is configuration, not code - that's how we went from one app to six. Two nice touches: related tools share context, and per-app notes let us correct things the model or the old docs get wrong. The recon_spec example is a real confusion we caught and fixed with a one-line note.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for today. Every rating is captured centrally. Failures with a correct-source URL get promoted into a regression set we can score forever. So your thumbs-down today isn't a complaint that evaporates - it's a test that guards against the bug coming 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hold out 48 solved cases and check whether the assistant retrieves the thread that solved them. Fused retrieval scores 0.97 - the right source is almost always #1 - while either method alone is around 0.4. That's the empirical case for the hybrid design. But scoring full answers automatically is imperfect, so your human feedback is what we trust most.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yours for the rest of the hour. Best feedback comes from questions you already know the answer to - you can judge the response. Push on the hard cases. Rate everything, and paste the correct source URL when you have it. One caution: history is logged for the eval, so no personal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assistant is only as good as the feedback loop behind it, and that loop is you. Every rating today is an investment that compounds. Let's open it up - questions, then hands on keyboards.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a:effectLst/>
      </p:bgPr>
    </p:bg>
    <p:spTree>
      <p:nvGrpSpPr>
        <p:cNvPr id="1" name=""/>
        <p:cNvGrpSpPr/>
        <p:nvPr/>
      </p:nvGrpSpPr>
      <p:grpSpPr>
        <a:xfrm>
          <a:off x="0" y="0"/>
          <a:ext cx="0" cy="0"/>
          <a:chOff x="0" y="0"/>
          <a:chExt cx="0" cy="0"/>
        </a:xfrm>
      </p:grpSpPr>
      <p:sp>
        <p:nvSpPr>
          <p:cNvPr id="2" name="Shape 0"/>
          <p:cNvSpPr/>
          <p:nvPr/>
        </p:nvSpPr>
        <p:spPr>
          <a:xfrm>
            <a:off x="8778240" y="-1920240"/>
            <a:ext cx="5669280" cy="5669280"/>
          </a:xfrm>
          <a:prstGeom prst="ellipse">
            <a:avLst/>
          </a:prstGeom>
          <a:solidFill>
            <a:srgbClr val="0A5A62">
              <a:alpha val="45000"/>
            </a:srgbClr>
          </a:solidFill>
          <a:ln/>
        </p:spPr>
        <p:txBody>
          <a:bodyPr/>
          <a:lstStyle/>
          <a:p>
            <a:endParaRPr lang="en-US"/>
          </a:p>
        </p:txBody>
      </p:sp>
      <p:sp>
        <p:nvSpPr>
          <p:cNvPr id="3" name="Shape 1"/>
          <p:cNvSpPr/>
          <p:nvPr/>
        </p:nvSpPr>
        <p:spPr>
          <a:xfrm>
            <a:off x="10241280" y="3108960"/>
            <a:ext cx="4023360" cy="4023360"/>
          </a:xfrm>
          <a:prstGeom prst="ellipse">
            <a:avLst/>
          </a:prstGeom>
          <a:solidFill>
            <a:srgbClr val="17B39B">
              <a:alpha val="22000"/>
            </a:srgbClr>
          </a:solidFill>
          <a:ln/>
        </p:spPr>
        <p:txBody>
          <a:bodyPr/>
          <a:lstStyle/>
          <a:p>
            <a:endParaRPr lang="en-US"/>
          </a:p>
        </p:txBody>
      </p:sp>
      <p:sp>
        <p:nvSpPr>
          <p:cNvPr id="4" name="Text 2"/>
          <p:cNvSpPr/>
          <p:nvPr/>
        </p:nvSpPr>
        <p:spPr>
          <a:xfrm>
            <a:off x="640080" y="1417320"/>
            <a:ext cx="7315200" cy="274320"/>
          </a:xfrm>
          <a:prstGeom prst="rect">
            <a:avLst/>
          </a:prstGeom>
          <a:noFill/>
          <a:ln/>
        </p:spPr>
        <p:txBody>
          <a:bodyPr wrap="square" lIns="0" tIns="0" rIns="0" bIns="0" rtlCol="0" anchor="ctr"/>
          <a:lstStyle/>
          <a:p>
            <a:pPr marL="0" indent="0">
              <a:buNone/>
            </a:pPr>
            <a:r>
              <a:rPr lang="en-US" sz="1200" b="1" kern="0" spc="300" dirty="0">
                <a:solidFill>
                  <a:srgbClr val="17B39B"/>
                </a:solidFill>
                <a:latin typeface="Calibri" pitchFamily="34" charset="0"/>
                <a:ea typeface="Calibri" pitchFamily="34" charset="-122"/>
                <a:cs typeface="Calibri" pitchFamily="34" charset="-120"/>
              </a:rPr>
              <a:t>LAB GROUP MEETING · AUG 2026</a:t>
            </a:r>
            <a:endParaRPr lang="en-US" sz="1200" dirty="0"/>
          </a:p>
        </p:txBody>
      </p:sp>
      <p:sp>
        <p:nvSpPr>
          <p:cNvPr id="5" name="Text 3"/>
          <p:cNvSpPr/>
          <p:nvPr/>
        </p:nvSpPr>
        <p:spPr>
          <a:xfrm>
            <a:off x="640080" y="1828800"/>
            <a:ext cx="10058400" cy="1371600"/>
          </a:xfrm>
          <a:prstGeom prst="rect">
            <a:avLst/>
          </a:prstGeom>
          <a:noFill/>
          <a:ln/>
        </p:spPr>
        <p:txBody>
          <a:bodyPr wrap="square" lIns="0" tIns="0" rIns="0" bIns="0" rtlCol="0" anchor="ctr"/>
          <a:lstStyle/>
          <a:p>
            <a:pPr marL="0" indent="0">
              <a:buNone/>
            </a:pPr>
            <a:r>
              <a:rPr lang="en-US" sz="5800" b="1" dirty="0">
                <a:solidFill>
                  <a:srgbClr val="FFFFFF"/>
                </a:solidFill>
                <a:latin typeface="Cambria" pitchFamily="34" charset="0"/>
                <a:ea typeface="Cambria" pitchFamily="34" charset="-122"/>
                <a:cs typeface="Cambria" pitchFamily="34" charset="-120"/>
              </a:rPr>
              <a:t>PennLINC Assistant</a:t>
            </a:r>
            <a:endParaRPr lang="en-US" sz="5800" dirty="0"/>
          </a:p>
        </p:txBody>
      </p:sp>
      <p:sp>
        <p:nvSpPr>
          <p:cNvPr id="6" name="Text 4"/>
          <p:cNvSpPr/>
          <p:nvPr/>
        </p:nvSpPr>
        <p:spPr>
          <a:xfrm>
            <a:off x="640080" y="3200400"/>
            <a:ext cx="10058400" cy="640080"/>
          </a:xfrm>
          <a:prstGeom prst="rect">
            <a:avLst/>
          </a:prstGeom>
          <a:noFill/>
          <a:ln/>
        </p:spPr>
        <p:txBody>
          <a:bodyPr wrap="square" lIns="0" tIns="0" rIns="0" bIns="0" rtlCol="0" anchor="ctr"/>
          <a:lstStyle/>
          <a:p>
            <a:pPr marL="0" indent="0">
              <a:buNone/>
            </a:pPr>
            <a:r>
              <a:rPr lang="en-US" sz="2300" dirty="0">
                <a:solidFill>
                  <a:srgbClr val="EEF5F6"/>
                </a:solidFill>
                <a:latin typeface="Calibri" pitchFamily="34" charset="0"/>
                <a:ea typeface="Calibri" pitchFamily="34" charset="-122"/>
                <a:cs typeface="Calibri" pitchFamily="34" charset="-120"/>
              </a:rPr>
              <a:t>A maintainer-in-a-box for the lab's BIDS Apps</a:t>
            </a:r>
            <a:endParaRPr lang="en-US" sz="2300" dirty="0"/>
          </a:p>
        </p:txBody>
      </p:sp>
      <p:sp>
        <p:nvSpPr>
          <p:cNvPr id="7" name="Text 5"/>
          <p:cNvSpPr/>
          <p:nvPr/>
        </p:nvSpPr>
        <p:spPr>
          <a:xfrm>
            <a:off x="685800" y="4160520"/>
            <a:ext cx="9144000" cy="1005840"/>
          </a:xfrm>
          <a:prstGeom prst="rect">
            <a:avLst/>
          </a:prstGeom>
          <a:noFill/>
          <a:ln/>
        </p:spPr>
        <p:txBody>
          <a:bodyPr wrap="square" lIns="0" tIns="0" rIns="0" bIns="0" rtlCol="0" anchor="ctr"/>
          <a:lstStyle/>
          <a:p>
            <a:pPr marL="228600" indent="-228600">
              <a:spcAft>
                <a:spcPts val="800"/>
              </a:spcAft>
              <a:buSzPct val="100000"/>
              <a:buChar char="•"/>
            </a:pPr>
            <a:r>
              <a:rPr lang="en-US" sz="1600" dirty="0">
                <a:solidFill>
                  <a:srgbClr val="EEF5F6"/>
                </a:solidFill>
                <a:latin typeface="Calibri" pitchFamily="34" charset="0"/>
                <a:ea typeface="Calibri" pitchFamily="34" charset="-122"/>
                <a:cs typeface="Calibri" pitchFamily="34" charset="-120"/>
              </a:rPr>
              <a:t>How it works under the hood</a:t>
            </a:r>
            <a:endParaRPr lang="en-US" sz="1600" dirty="0"/>
          </a:p>
          <a:p>
            <a:pPr marL="228600" indent="-228600">
              <a:spcAft>
                <a:spcPts val="800"/>
              </a:spcAft>
              <a:buSzPct val="100000"/>
              <a:buChar char="•"/>
            </a:pPr>
            <a:r>
              <a:rPr lang="en-US" sz="1600" dirty="0">
                <a:solidFill>
                  <a:srgbClr val="EEF5F6"/>
                </a:solidFill>
                <a:latin typeface="Calibri" pitchFamily="34" charset="0"/>
                <a:ea typeface="Calibri" pitchFamily="34" charset="-122"/>
                <a:cs typeface="Calibri" pitchFamily="34" charset="-120"/>
              </a:rPr>
              <a:t>How your feedback becomes measurable improvement</a:t>
            </a:r>
            <a:endParaRPr lang="en-US" sz="1600" dirty="0"/>
          </a:p>
        </p:txBody>
      </p:sp>
      <p:sp>
        <p:nvSpPr>
          <p:cNvPr id="8" name="Text 6"/>
          <p:cNvSpPr/>
          <p:nvPr/>
        </p:nvSpPr>
        <p:spPr>
          <a:xfrm>
            <a:off x="640080" y="5943600"/>
            <a:ext cx="10058400" cy="365760"/>
          </a:xfrm>
          <a:prstGeom prst="rect">
            <a:avLst/>
          </a:prstGeom>
          <a:noFill/>
          <a:ln/>
        </p:spPr>
        <p:txBody>
          <a:bodyPr wrap="square" lIns="0" tIns="0" rIns="0" bIns="0" rtlCol="0" anchor="ctr"/>
          <a:lstStyle/>
          <a:p>
            <a:pPr marL="0" indent="0">
              <a:buNone/>
            </a:pPr>
            <a:r>
              <a:rPr lang="en-US" sz="1400" i="1" dirty="0">
                <a:solidFill>
                  <a:srgbClr val="17B39B"/>
                </a:solidFill>
                <a:latin typeface="Calibri" pitchFamily="34" charset="0"/>
                <a:ea typeface="Calibri" pitchFamily="34" charset="-122"/>
                <a:cs typeface="Calibri" pitchFamily="34" charset="-120"/>
              </a:rPr>
              <a:t>First ~15 min: overview   ·   then: you ask &amp; log feedback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Maintainers answer the same questions, the same way, over and over</a:t>
            </a:r>
            <a:endParaRPr lang="en-US" sz="3400" dirty="0"/>
          </a:p>
        </p:txBody>
      </p:sp>
      <p:sp>
        <p:nvSpPr>
          <p:cNvPr id="4" name="Shape 2"/>
          <p:cNvSpPr/>
          <p:nvPr/>
        </p:nvSpPr>
        <p:spPr>
          <a:xfrm>
            <a:off x="640080" y="1965960"/>
            <a:ext cx="10911535" cy="1051560"/>
          </a:xfrm>
          <a:prstGeom prst="roundRect">
            <a:avLst>
              <a:gd name="adj" fmla="val 9565"/>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5" name="Shape 3"/>
          <p:cNvSpPr/>
          <p:nvPr/>
        </p:nvSpPr>
        <p:spPr>
          <a:xfrm>
            <a:off x="932688" y="2258568"/>
            <a:ext cx="457200" cy="457200"/>
          </a:xfrm>
          <a:prstGeom prst="ellipse">
            <a:avLst/>
          </a:prstGeom>
          <a:solidFill>
            <a:srgbClr val="0E7C86"/>
          </a:solidFill>
          <a:ln/>
        </p:spPr>
        <p:txBody>
          <a:bodyPr/>
          <a:lstStyle/>
          <a:p>
            <a:endParaRPr lang="en-US"/>
          </a:p>
        </p:txBody>
      </p:sp>
      <p:sp>
        <p:nvSpPr>
          <p:cNvPr id="6" name="Text 4"/>
          <p:cNvSpPr/>
          <p:nvPr/>
        </p:nvSpPr>
        <p:spPr>
          <a:xfrm>
            <a:off x="932688" y="22585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600200" y="2121408"/>
            <a:ext cx="9692640" cy="384048"/>
          </a:xfrm>
          <a:prstGeom prst="rect">
            <a:avLst/>
          </a:prstGeom>
          <a:noFill/>
          <a:ln/>
        </p:spPr>
        <p:txBody>
          <a:bodyPr wrap="square" lIns="0" tIns="0" rIns="0" bIns="0" rtlCol="0" anchor="ctr"/>
          <a:lstStyle/>
          <a:p>
            <a:pPr marL="0" indent="0">
              <a:buNone/>
            </a:pPr>
            <a:r>
              <a:rPr lang="en-US" sz="1800" b="1" dirty="0">
                <a:solidFill>
                  <a:srgbClr val="17323B"/>
                </a:solidFill>
                <a:latin typeface="Calibri" pitchFamily="34" charset="0"/>
                <a:ea typeface="Calibri" pitchFamily="34" charset="-122"/>
                <a:cs typeface="Calibri" pitchFamily="34" charset="-120"/>
              </a:rPr>
              <a:t>“Did someone already hit this?”</a:t>
            </a:r>
            <a:endParaRPr lang="en-US" sz="1800" dirty="0"/>
          </a:p>
        </p:txBody>
      </p:sp>
      <p:sp>
        <p:nvSpPr>
          <p:cNvPr id="8" name="Text 6"/>
          <p:cNvSpPr/>
          <p:nvPr/>
        </p:nvSpPr>
        <p:spPr>
          <a:xfrm>
            <a:off x="1600200" y="2496312"/>
            <a:ext cx="9692640" cy="384048"/>
          </a:xfrm>
          <a:prstGeom prst="rect">
            <a:avLst/>
          </a:prstGeom>
          <a:noFill/>
          <a:ln/>
        </p:spPr>
        <p:txBody>
          <a:bodyPr wrap="square" lIns="0" tIns="0" rIns="0" bIns="0" rtlCol="0" anchor="ctr"/>
          <a:lstStyle/>
          <a:p>
            <a:pPr marL="0" indent="0">
              <a:buNone/>
            </a:pPr>
            <a:r>
              <a:rPr lang="en-US" sz="1450" dirty="0">
                <a:solidFill>
                  <a:srgbClr val="5F777F"/>
                </a:solidFill>
                <a:latin typeface="Calibri" pitchFamily="34" charset="0"/>
                <a:ea typeface="Calibri" pitchFamily="34" charset="-122"/>
                <a:cs typeface="Calibri" pitchFamily="34" charset="-120"/>
              </a:rPr>
              <a:t>Search closed GitHub issues and solved NeuroStars threads.</a:t>
            </a:r>
            <a:endParaRPr lang="en-US" sz="1450" dirty="0"/>
          </a:p>
        </p:txBody>
      </p:sp>
      <p:sp>
        <p:nvSpPr>
          <p:cNvPr id="9" name="Shape 7"/>
          <p:cNvSpPr/>
          <p:nvPr/>
        </p:nvSpPr>
        <p:spPr>
          <a:xfrm>
            <a:off x="640080" y="3264408"/>
            <a:ext cx="10911535" cy="1051560"/>
          </a:xfrm>
          <a:prstGeom prst="roundRect">
            <a:avLst>
              <a:gd name="adj" fmla="val 9565"/>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0" name="Shape 8"/>
          <p:cNvSpPr/>
          <p:nvPr/>
        </p:nvSpPr>
        <p:spPr>
          <a:xfrm>
            <a:off x="932688" y="3557016"/>
            <a:ext cx="457200" cy="457200"/>
          </a:xfrm>
          <a:prstGeom prst="ellipse">
            <a:avLst/>
          </a:prstGeom>
          <a:solidFill>
            <a:srgbClr val="0E7C86"/>
          </a:solidFill>
          <a:ln/>
        </p:spPr>
        <p:txBody>
          <a:bodyPr/>
          <a:lstStyle/>
          <a:p>
            <a:endParaRPr lang="en-US"/>
          </a:p>
        </p:txBody>
      </p:sp>
      <p:sp>
        <p:nvSpPr>
          <p:cNvPr id="11" name="Text 9"/>
          <p:cNvSpPr/>
          <p:nvPr/>
        </p:nvSpPr>
        <p:spPr>
          <a:xfrm>
            <a:off x="932688" y="35570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600200" y="3419856"/>
            <a:ext cx="9692640" cy="384048"/>
          </a:xfrm>
          <a:prstGeom prst="rect">
            <a:avLst/>
          </a:prstGeom>
          <a:noFill/>
          <a:ln/>
        </p:spPr>
        <p:txBody>
          <a:bodyPr wrap="square" lIns="0" tIns="0" rIns="0" bIns="0" rtlCol="0" anchor="ctr"/>
          <a:lstStyle/>
          <a:p>
            <a:pPr marL="0" indent="0">
              <a:buNone/>
            </a:pPr>
            <a:r>
              <a:rPr lang="en-US" sz="1800" b="1" dirty="0">
                <a:solidFill>
                  <a:srgbClr val="17323B"/>
                </a:solidFill>
                <a:latin typeface="Calibri" pitchFamily="34" charset="0"/>
                <a:ea typeface="Calibri" pitchFamily="34" charset="-122"/>
                <a:cs typeface="Calibri" pitchFamily="34" charset="-120"/>
              </a:rPr>
              <a:t>“What do the docs say?”</a:t>
            </a:r>
            <a:endParaRPr lang="en-US" sz="1800" dirty="0"/>
          </a:p>
        </p:txBody>
      </p:sp>
      <p:sp>
        <p:nvSpPr>
          <p:cNvPr id="13" name="Text 11"/>
          <p:cNvSpPr/>
          <p:nvPr/>
        </p:nvSpPr>
        <p:spPr>
          <a:xfrm>
            <a:off x="1600200" y="3794760"/>
            <a:ext cx="9692640" cy="384048"/>
          </a:xfrm>
          <a:prstGeom prst="rect">
            <a:avLst/>
          </a:prstGeom>
          <a:noFill/>
          <a:ln/>
        </p:spPr>
        <p:txBody>
          <a:bodyPr wrap="square" lIns="0" tIns="0" rIns="0" bIns="0" rtlCol="0" anchor="ctr"/>
          <a:lstStyle/>
          <a:p>
            <a:pPr marL="0" indent="0">
              <a:buNone/>
            </a:pPr>
            <a:r>
              <a:rPr lang="en-US" sz="1450" dirty="0">
                <a:solidFill>
                  <a:srgbClr val="5F777F"/>
                </a:solidFill>
                <a:latin typeface="Calibri" pitchFamily="34" charset="0"/>
                <a:ea typeface="Calibri" pitchFamily="34" charset="-122"/>
                <a:cs typeface="Calibri" pitchFamily="34" charset="-120"/>
              </a:rPr>
              <a:t>Check the documentation for the option or workflow in question.</a:t>
            </a:r>
            <a:endParaRPr lang="en-US" sz="1450" dirty="0"/>
          </a:p>
        </p:txBody>
      </p:sp>
      <p:sp>
        <p:nvSpPr>
          <p:cNvPr id="14" name="Shape 12"/>
          <p:cNvSpPr/>
          <p:nvPr/>
        </p:nvSpPr>
        <p:spPr>
          <a:xfrm>
            <a:off x="640080" y="4562856"/>
            <a:ext cx="10911535" cy="1051560"/>
          </a:xfrm>
          <a:prstGeom prst="roundRect">
            <a:avLst>
              <a:gd name="adj" fmla="val 9565"/>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5" name="Shape 13"/>
          <p:cNvSpPr/>
          <p:nvPr/>
        </p:nvSpPr>
        <p:spPr>
          <a:xfrm>
            <a:off x="932688" y="4855464"/>
            <a:ext cx="457200" cy="457200"/>
          </a:xfrm>
          <a:prstGeom prst="ellipse">
            <a:avLst/>
          </a:prstGeom>
          <a:solidFill>
            <a:srgbClr val="0E7C86"/>
          </a:solidFill>
          <a:ln/>
        </p:spPr>
        <p:txBody>
          <a:bodyPr/>
          <a:lstStyle/>
          <a:p>
            <a:endParaRPr lang="en-US"/>
          </a:p>
        </p:txBody>
      </p:sp>
      <p:sp>
        <p:nvSpPr>
          <p:cNvPr id="16" name="Text 14"/>
          <p:cNvSpPr/>
          <p:nvPr/>
        </p:nvSpPr>
        <p:spPr>
          <a:xfrm>
            <a:off x="932688" y="48554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600200" y="4718304"/>
            <a:ext cx="9692640" cy="384048"/>
          </a:xfrm>
          <a:prstGeom prst="rect">
            <a:avLst/>
          </a:prstGeom>
          <a:noFill/>
          <a:ln/>
        </p:spPr>
        <p:txBody>
          <a:bodyPr wrap="square" lIns="0" tIns="0" rIns="0" bIns="0" rtlCol="0" anchor="ctr"/>
          <a:lstStyle/>
          <a:p>
            <a:pPr marL="0" indent="0">
              <a:buNone/>
            </a:pPr>
            <a:r>
              <a:rPr lang="en-US" sz="1800" b="1" dirty="0">
                <a:solidFill>
                  <a:srgbClr val="17323B"/>
                </a:solidFill>
                <a:latin typeface="Calibri" pitchFamily="34" charset="0"/>
                <a:ea typeface="Calibri" pitchFamily="34" charset="-122"/>
                <a:cs typeface="Calibri" pitchFamily="34" charset="-120"/>
              </a:rPr>
              <a:t>“Why is it breaking?”</a:t>
            </a:r>
            <a:endParaRPr lang="en-US" sz="1800" dirty="0"/>
          </a:p>
        </p:txBody>
      </p:sp>
      <p:sp>
        <p:nvSpPr>
          <p:cNvPr id="18" name="Text 16"/>
          <p:cNvSpPr/>
          <p:nvPr/>
        </p:nvSpPr>
        <p:spPr>
          <a:xfrm>
            <a:off x="1600200" y="5093208"/>
            <a:ext cx="9692640" cy="384048"/>
          </a:xfrm>
          <a:prstGeom prst="rect">
            <a:avLst/>
          </a:prstGeom>
          <a:noFill/>
          <a:ln/>
        </p:spPr>
        <p:txBody>
          <a:bodyPr wrap="square" lIns="0" tIns="0" rIns="0" bIns="0" rtlCol="0" anchor="ctr"/>
          <a:lstStyle/>
          <a:p>
            <a:pPr marL="0" indent="0">
              <a:buNone/>
            </a:pPr>
            <a:r>
              <a:rPr lang="en-US" sz="1450" dirty="0">
                <a:solidFill>
                  <a:srgbClr val="5F777F"/>
                </a:solidFill>
                <a:latin typeface="Calibri" pitchFamily="34" charset="0"/>
                <a:ea typeface="Calibri" pitchFamily="34" charset="-122"/>
                <a:cs typeface="Calibri" pitchFamily="34" charset="-120"/>
              </a:rPr>
              <a:t>Read the actual code — at the version the user ran — to find the raising line.</a:t>
            </a:r>
            <a:endParaRPr lang="en-US" sz="1450" dirty="0"/>
          </a:p>
        </p:txBody>
      </p:sp>
      <p:sp>
        <p:nvSpPr>
          <p:cNvPr id="19" name="Text 17"/>
          <p:cNvSpPr/>
          <p:nvPr/>
        </p:nvSpPr>
        <p:spPr>
          <a:xfrm>
            <a:off x="640080" y="5943600"/>
            <a:ext cx="10911535" cy="457200"/>
          </a:xfrm>
          <a:prstGeom prst="rect">
            <a:avLst/>
          </a:prstGeom>
          <a:noFill/>
          <a:ln/>
        </p:spPr>
        <p:txBody>
          <a:bodyPr wrap="square" lIns="0" tIns="0" rIns="0" bIns="0" rtlCol="0" anchor="ctr"/>
          <a:lstStyle/>
          <a:p>
            <a:pPr marL="0" indent="0">
              <a:buNone/>
            </a:pPr>
            <a:r>
              <a:rPr lang="en-US" sz="1600" b="1" i="1" dirty="0">
                <a:solidFill>
                  <a:srgbClr val="0A5A62"/>
                </a:solidFill>
                <a:latin typeface="Calibri" pitchFamily="34" charset="0"/>
                <a:ea typeface="Calibri" pitchFamily="34" charset="-122"/>
                <a:cs typeface="Calibri" pitchFamily="34" charset="-120"/>
              </a:rPr>
              <a:t>The assistant automates exactly this workflow — and links back to every source it used.</a:t>
            </a:r>
            <a:endParaRPr lang="en-US" sz="1600" dirty="0"/>
          </a:p>
        </p:txBody>
      </p:sp>
      <p:sp>
        <p:nvSpPr>
          <p:cNvPr id="20" name="Text 18"/>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21" name="Text 19"/>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E3D"/>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marL="0" indent="0">
              <a:buNone/>
            </a:pPr>
            <a:r>
              <a:rPr lang="en-US" sz="1200" b="1" kern="0" spc="300" dirty="0">
                <a:solidFill>
                  <a:srgbClr val="17B39B"/>
                </a:solidFill>
                <a:latin typeface="Calibri" pitchFamily="34" charset="0"/>
                <a:ea typeface="Calibri" pitchFamily="34" charset="-122"/>
                <a:cs typeface="Calibri" pitchFamily="34" charset="-120"/>
              </a:rPr>
              <a:t>WHAT IT IS</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 troubleshooting assistant for the lab's BIDS Apps</a:t>
            </a:r>
            <a:endParaRPr lang="en-US" sz="3200" dirty="0"/>
          </a:p>
        </p:txBody>
      </p:sp>
      <p:sp>
        <p:nvSpPr>
          <p:cNvPr id="4" name="Shape 2"/>
          <p:cNvSpPr/>
          <p:nvPr/>
        </p:nvSpPr>
        <p:spPr>
          <a:xfrm>
            <a:off x="640080" y="2240280"/>
            <a:ext cx="3393338" cy="2606040"/>
          </a:xfrm>
          <a:prstGeom prst="roundRect">
            <a:avLst>
              <a:gd name="adj" fmla="val 3509"/>
            </a:avLst>
          </a:prstGeom>
          <a:solidFill>
            <a:srgbClr val="0B2531"/>
          </a:solidFill>
          <a:ln w="12700">
            <a:solidFill>
              <a:srgbClr val="0A5A62"/>
            </a:solidFill>
            <a:prstDash val="solid"/>
          </a:ln>
        </p:spPr>
        <p:txBody>
          <a:bodyPr/>
          <a:lstStyle/>
          <a:p>
            <a:endParaRPr lang="en-US"/>
          </a:p>
        </p:txBody>
      </p:sp>
      <p:sp>
        <p:nvSpPr>
          <p:cNvPr id="5" name="Text 3"/>
          <p:cNvSpPr/>
          <p:nvPr/>
        </p:nvSpPr>
        <p:spPr>
          <a:xfrm>
            <a:off x="731520" y="2468880"/>
            <a:ext cx="3210458" cy="914400"/>
          </a:xfrm>
          <a:prstGeom prst="rect">
            <a:avLst/>
          </a:prstGeom>
          <a:noFill/>
          <a:ln/>
        </p:spPr>
        <p:txBody>
          <a:bodyPr wrap="square" lIns="0" tIns="0" rIns="0" bIns="0" rtlCol="0" anchor="ctr"/>
          <a:lstStyle/>
          <a:p>
            <a:pPr marL="0" indent="0" algn="ctr">
              <a:buNone/>
            </a:pPr>
            <a:r>
              <a:rPr lang="en-US" sz="5200" b="1" dirty="0">
                <a:solidFill>
                  <a:srgbClr val="E8A33D"/>
                </a:solidFill>
                <a:latin typeface="Cambria" pitchFamily="34" charset="0"/>
                <a:ea typeface="Cambria" pitchFamily="34" charset="-122"/>
                <a:cs typeface="Cambria" pitchFamily="34" charset="-120"/>
              </a:rPr>
              <a:t>6</a:t>
            </a:r>
            <a:endParaRPr lang="en-US" sz="5200" dirty="0"/>
          </a:p>
        </p:txBody>
      </p:sp>
      <p:sp>
        <p:nvSpPr>
          <p:cNvPr id="6" name="Text 4"/>
          <p:cNvSpPr/>
          <p:nvPr/>
        </p:nvSpPr>
        <p:spPr>
          <a:xfrm>
            <a:off x="731520" y="3429000"/>
            <a:ext cx="321045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tools, one place</a:t>
            </a:r>
            <a:endParaRPr lang="en-US" sz="1700" dirty="0"/>
          </a:p>
        </p:txBody>
      </p:sp>
      <p:sp>
        <p:nvSpPr>
          <p:cNvPr id="7" name="Text 5"/>
          <p:cNvSpPr/>
          <p:nvPr/>
        </p:nvSpPr>
        <p:spPr>
          <a:xfrm>
            <a:off x="868680" y="3840480"/>
            <a:ext cx="2936138" cy="822960"/>
          </a:xfrm>
          <a:prstGeom prst="rect">
            <a:avLst/>
          </a:prstGeom>
          <a:noFill/>
          <a:ln/>
        </p:spPr>
        <p:txBody>
          <a:bodyPr wrap="square" lIns="0" tIns="0" rIns="0" bIns="0" rtlCol="0" anchor="ctr"/>
          <a:lstStyle/>
          <a:p>
            <a:pPr marL="0" indent="0" algn="ctr">
              <a:buNone/>
            </a:pPr>
            <a:r>
              <a:rPr lang="en-US" sz="1250" dirty="0">
                <a:solidFill>
                  <a:srgbClr val="EEF5F6"/>
                </a:solidFill>
                <a:latin typeface="Calibri" pitchFamily="34" charset="0"/>
                <a:ea typeface="Calibri" pitchFamily="34" charset="-122"/>
                <a:cs typeface="Calibri" pitchFamily="34" charset="-120"/>
              </a:rPr>
              <a:t>qsiprep · qsirecon · aslprep · xcp_d · cubids · ModelArray</a:t>
            </a:r>
            <a:endParaRPr lang="en-US" sz="1250" dirty="0"/>
          </a:p>
        </p:txBody>
      </p:sp>
      <p:sp>
        <p:nvSpPr>
          <p:cNvPr id="8" name="Shape 6"/>
          <p:cNvSpPr/>
          <p:nvPr/>
        </p:nvSpPr>
        <p:spPr>
          <a:xfrm>
            <a:off x="4399178" y="2240280"/>
            <a:ext cx="3393338" cy="2606040"/>
          </a:xfrm>
          <a:prstGeom prst="roundRect">
            <a:avLst>
              <a:gd name="adj" fmla="val 3509"/>
            </a:avLst>
          </a:prstGeom>
          <a:solidFill>
            <a:srgbClr val="0B2531"/>
          </a:solidFill>
          <a:ln w="12700">
            <a:solidFill>
              <a:srgbClr val="0A5A62"/>
            </a:solidFill>
            <a:prstDash val="solid"/>
          </a:ln>
        </p:spPr>
        <p:txBody>
          <a:bodyPr/>
          <a:lstStyle/>
          <a:p>
            <a:endParaRPr lang="en-US"/>
          </a:p>
        </p:txBody>
      </p:sp>
      <p:sp>
        <p:nvSpPr>
          <p:cNvPr id="9" name="Text 7"/>
          <p:cNvSpPr/>
          <p:nvPr/>
        </p:nvSpPr>
        <p:spPr>
          <a:xfrm>
            <a:off x="4490618" y="2468880"/>
            <a:ext cx="3210458" cy="914400"/>
          </a:xfrm>
          <a:prstGeom prst="rect">
            <a:avLst/>
          </a:prstGeom>
          <a:noFill/>
          <a:ln/>
        </p:spPr>
        <p:txBody>
          <a:bodyPr wrap="square" lIns="0" tIns="0" rIns="0" bIns="0" rtlCol="0" anchor="ctr"/>
          <a:lstStyle/>
          <a:p>
            <a:pPr marL="0" indent="0" algn="ctr">
              <a:buNone/>
            </a:pPr>
            <a:r>
              <a:rPr lang="en-US" sz="5200" b="1" dirty="0">
                <a:solidFill>
                  <a:srgbClr val="E8A33D"/>
                </a:solidFill>
                <a:latin typeface="Cambria" pitchFamily="34" charset="0"/>
                <a:ea typeface="Cambria" pitchFamily="34" charset="-122"/>
                <a:cs typeface="Cambria" pitchFamily="34" charset="-120"/>
              </a:rPr>
              <a:t>~11,800</a:t>
            </a:r>
            <a:endParaRPr lang="en-US" sz="5200" dirty="0"/>
          </a:p>
        </p:txBody>
      </p:sp>
      <p:sp>
        <p:nvSpPr>
          <p:cNvPr id="10" name="Text 8"/>
          <p:cNvSpPr/>
          <p:nvPr/>
        </p:nvSpPr>
        <p:spPr>
          <a:xfrm>
            <a:off x="4490618" y="3429000"/>
            <a:ext cx="321045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indexed snippets</a:t>
            </a:r>
            <a:endParaRPr lang="en-US" sz="1700" dirty="0"/>
          </a:p>
        </p:txBody>
      </p:sp>
      <p:sp>
        <p:nvSpPr>
          <p:cNvPr id="11" name="Text 9"/>
          <p:cNvSpPr/>
          <p:nvPr/>
        </p:nvSpPr>
        <p:spPr>
          <a:xfrm>
            <a:off x="4627778" y="3840480"/>
            <a:ext cx="2936138" cy="822960"/>
          </a:xfrm>
          <a:prstGeom prst="rect">
            <a:avLst/>
          </a:prstGeom>
          <a:noFill/>
          <a:ln/>
        </p:spPr>
        <p:txBody>
          <a:bodyPr wrap="square" lIns="0" tIns="0" rIns="0" bIns="0" rtlCol="0" anchor="ctr"/>
          <a:lstStyle/>
          <a:p>
            <a:pPr marL="0" indent="0" algn="ctr">
              <a:buNone/>
            </a:pPr>
            <a:r>
              <a:rPr lang="en-US" sz="1250" dirty="0">
                <a:solidFill>
                  <a:srgbClr val="EEF5F6"/>
                </a:solidFill>
                <a:latin typeface="Calibri" pitchFamily="34" charset="0"/>
                <a:ea typeface="Calibri" pitchFamily="34" charset="-122"/>
                <a:cs typeface="Calibri" pitchFamily="34" charset="-120"/>
              </a:rPr>
              <a:t>GitHub issues, solved NeuroStars threads, and docs</a:t>
            </a:r>
            <a:endParaRPr lang="en-US" sz="1250" dirty="0"/>
          </a:p>
        </p:txBody>
      </p:sp>
      <p:sp>
        <p:nvSpPr>
          <p:cNvPr id="12" name="Shape 10"/>
          <p:cNvSpPr/>
          <p:nvPr/>
        </p:nvSpPr>
        <p:spPr>
          <a:xfrm>
            <a:off x="8158277" y="2240280"/>
            <a:ext cx="3393338" cy="2606040"/>
          </a:xfrm>
          <a:prstGeom prst="roundRect">
            <a:avLst>
              <a:gd name="adj" fmla="val 3509"/>
            </a:avLst>
          </a:prstGeom>
          <a:solidFill>
            <a:srgbClr val="0B2531"/>
          </a:solidFill>
          <a:ln w="12700">
            <a:solidFill>
              <a:srgbClr val="0A5A62"/>
            </a:solidFill>
            <a:prstDash val="solid"/>
          </a:ln>
        </p:spPr>
        <p:txBody>
          <a:bodyPr/>
          <a:lstStyle/>
          <a:p>
            <a:endParaRPr lang="en-US"/>
          </a:p>
        </p:txBody>
      </p:sp>
      <p:sp>
        <p:nvSpPr>
          <p:cNvPr id="13" name="Text 11"/>
          <p:cNvSpPr/>
          <p:nvPr/>
        </p:nvSpPr>
        <p:spPr>
          <a:xfrm>
            <a:off x="8249717" y="2468880"/>
            <a:ext cx="3210458" cy="914400"/>
          </a:xfrm>
          <a:prstGeom prst="rect">
            <a:avLst/>
          </a:prstGeom>
          <a:noFill/>
          <a:ln/>
        </p:spPr>
        <p:txBody>
          <a:bodyPr wrap="square" lIns="0" tIns="0" rIns="0" bIns="0" rtlCol="0" anchor="ctr"/>
          <a:lstStyle/>
          <a:p>
            <a:pPr marL="0" indent="0" algn="ctr">
              <a:buNone/>
            </a:pPr>
            <a:r>
              <a:rPr lang="en-US" sz="5200" b="1" dirty="0">
                <a:solidFill>
                  <a:srgbClr val="E8A33D"/>
                </a:solidFill>
                <a:latin typeface="Cambria" pitchFamily="34" charset="0"/>
                <a:ea typeface="Cambria" pitchFamily="34" charset="-122"/>
                <a:cs typeface="Cambria" pitchFamily="34" charset="-120"/>
              </a:rPr>
              <a:t>100%</a:t>
            </a:r>
            <a:endParaRPr lang="en-US" sz="5200" dirty="0"/>
          </a:p>
        </p:txBody>
      </p:sp>
      <p:sp>
        <p:nvSpPr>
          <p:cNvPr id="14" name="Text 12"/>
          <p:cNvSpPr/>
          <p:nvPr/>
        </p:nvSpPr>
        <p:spPr>
          <a:xfrm>
            <a:off x="8249717" y="3429000"/>
            <a:ext cx="321045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answers cite sources</a:t>
            </a:r>
            <a:endParaRPr lang="en-US" sz="1700" dirty="0"/>
          </a:p>
        </p:txBody>
      </p:sp>
      <p:sp>
        <p:nvSpPr>
          <p:cNvPr id="15" name="Text 13"/>
          <p:cNvSpPr/>
          <p:nvPr/>
        </p:nvSpPr>
        <p:spPr>
          <a:xfrm>
            <a:off x="8386877" y="3840480"/>
            <a:ext cx="2936138" cy="822960"/>
          </a:xfrm>
          <a:prstGeom prst="rect">
            <a:avLst/>
          </a:prstGeom>
          <a:noFill/>
          <a:ln/>
        </p:spPr>
        <p:txBody>
          <a:bodyPr wrap="square" lIns="0" tIns="0" rIns="0" bIns="0" rtlCol="0" anchor="ctr"/>
          <a:lstStyle/>
          <a:p>
            <a:pPr marL="0" indent="0" algn="ctr">
              <a:buNone/>
            </a:pPr>
            <a:r>
              <a:rPr lang="en-US" sz="1250" dirty="0">
                <a:solidFill>
                  <a:srgbClr val="EEF5F6"/>
                </a:solidFill>
                <a:latin typeface="Calibri" pitchFamily="34" charset="0"/>
                <a:ea typeface="Calibri" pitchFamily="34" charset="-122"/>
                <a:cs typeface="Calibri" pitchFamily="34" charset="-120"/>
              </a:rPr>
              <a:t>issue &amp; thread links, version-pinned code permalinks</a:t>
            </a:r>
            <a:endParaRPr lang="en-US" sz="1250" dirty="0"/>
          </a:p>
        </p:txBody>
      </p:sp>
      <p:sp>
        <p:nvSpPr>
          <p:cNvPr id="16" name="Text 14"/>
          <p:cNvSpPr/>
          <p:nvPr/>
        </p:nvSpPr>
        <p:spPr>
          <a:xfrm>
            <a:off x="640080" y="5257800"/>
            <a:ext cx="10911535" cy="457200"/>
          </a:xfrm>
          <a:prstGeom prst="rect">
            <a:avLst/>
          </a:prstGeom>
          <a:noFill/>
          <a:ln/>
        </p:spPr>
        <p:txBody>
          <a:bodyPr wrap="square" lIns="0" tIns="0" rIns="0" bIns="0" rtlCol="0" anchor="ctr"/>
          <a:lstStyle/>
          <a:p>
            <a:pPr marL="0" indent="0" algn="ctr">
              <a:buNone/>
            </a:pPr>
            <a:r>
              <a:rPr lang="en-US" sz="1450" i="1" dirty="0">
                <a:solidFill>
                  <a:srgbClr val="17B39B"/>
                </a:solidFill>
                <a:latin typeface="Calibri" pitchFamily="34" charset="0"/>
                <a:ea typeface="Calibri" pitchFamily="34" charset="-122"/>
                <a:cs typeface="Calibri" pitchFamily="34" charset="-120"/>
              </a:rPr>
              <a:t>Runs at pennlinc-assistant (AWS) behind HTTPS + a shared password — nothing to install.</a:t>
            </a:r>
            <a:endParaRPr lang="en-US" sz="1450" dirty="0"/>
          </a:p>
        </p:txBody>
      </p:sp>
      <p:sp>
        <p:nvSpPr>
          <p:cNvPr id="17" name="Text 15"/>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18" name="Text 16"/>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Calibri" pitchFamily="34" charset="0"/>
                <a:ea typeface="Calibri" pitchFamily="34" charset="-122"/>
                <a:cs typeface="Calibri" pitchFamily="34" charset="-120"/>
              </a:rPr>
              <a:t>HOW IT ANSWERS</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It works a question like a maintainer would</a:t>
            </a:r>
            <a:endParaRPr lang="en-US" sz="3400" dirty="0"/>
          </a:p>
        </p:txBody>
      </p:sp>
      <p:sp>
        <p:nvSpPr>
          <p:cNvPr id="4" name="Shape 2"/>
          <p:cNvSpPr/>
          <p:nvPr/>
        </p:nvSpPr>
        <p:spPr>
          <a:xfrm>
            <a:off x="640080" y="1965960"/>
            <a:ext cx="3362858" cy="3108960"/>
          </a:xfrm>
          <a:prstGeom prst="roundRect">
            <a:avLst>
              <a:gd name="adj" fmla="val 3235"/>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5" name="Shape 3"/>
          <p:cNvSpPr/>
          <p:nvPr/>
        </p:nvSpPr>
        <p:spPr>
          <a:xfrm>
            <a:off x="960120" y="2286000"/>
            <a:ext cx="512064" cy="512064"/>
          </a:xfrm>
          <a:prstGeom prst="ellipse">
            <a:avLst/>
          </a:prstGeom>
          <a:solidFill>
            <a:srgbClr val="0E7C86"/>
          </a:solidFill>
          <a:ln/>
        </p:spPr>
        <p:txBody>
          <a:bodyPr/>
          <a:lstStyle/>
          <a:p>
            <a:endParaRPr lang="en-US"/>
          </a:p>
        </p:txBody>
      </p:sp>
      <p:sp>
        <p:nvSpPr>
          <p:cNvPr id="6" name="Text 4"/>
          <p:cNvSpPr/>
          <p:nvPr/>
        </p:nvSpPr>
        <p:spPr>
          <a:xfrm>
            <a:off x="960120" y="2286000"/>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960120" y="3017520"/>
            <a:ext cx="2722778" cy="548640"/>
          </a:xfrm>
          <a:prstGeom prst="rect">
            <a:avLst/>
          </a:prstGeom>
          <a:noFill/>
          <a:ln/>
        </p:spPr>
        <p:txBody>
          <a:bodyPr wrap="square" lIns="0" tIns="0" rIns="0" bIns="0" rtlCol="0" anchor="ctr"/>
          <a:lstStyle/>
          <a:p>
            <a:pPr marL="0" indent="0">
              <a:buNone/>
            </a:pPr>
            <a:r>
              <a:rPr lang="en-US" sz="1850" b="1" dirty="0">
                <a:solidFill>
                  <a:srgbClr val="17323B"/>
                </a:solidFill>
                <a:latin typeface="Calibri" pitchFamily="34" charset="0"/>
                <a:ea typeface="Calibri" pitchFamily="34" charset="-122"/>
                <a:cs typeface="Calibri" pitchFamily="34" charset="-120"/>
              </a:rPr>
              <a:t>Search the memory</a:t>
            </a:r>
            <a:endParaRPr lang="en-US" sz="1850" dirty="0"/>
          </a:p>
        </p:txBody>
      </p:sp>
      <p:sp>
        <p:nvSpPr>
          <p:cNvPr id="8" name="Text 6"/>
          <p:cNvSpPr/>
          <p:nvPr/>
        </p:nvSpPr>
        <p:spPr>
          <a:xfrm>
            <a:off x="960120" y="3611880"/>
            <a:ext cx="2722778" cy="1188720"/>
          </a:xfrm>
          <a:prstGeom prst="rect">
            <a:avLst/>
          </a:prstGeom>
          <a:noFill/>
          <a:ln/>
        </p:spPr>
        <p:txBody>
          <a:bodyPr wrap="square" lIns="0" tIns="0" rIns="0" bIns="0" rtlCol="0" anchor="ctr"/>
          <a:lstStyle/>
          <a:p>
            <a:pPr marL="0" indent="0">
              <a:buNone/>
            </a:pPr>
            <a:r>
              <a:rPr lang="en-US" sz="1350" dirty="0">
                <a:solidFill>
                  <a:srgbClr val="5F777F"/>
                </a:solidFill>
                <a:latin typeface="Calibri" pitchFamily="34" charset="0"/>
                <a:ea typeface="Calibri" pitchFamily="34" charset="-122"/>
                <a:cs typeface="Calibri" pitchFamily="34" charset="-120"/>
              </a:rPr>
              <a:t>Closed issues + solved NeuroStars threads are a labeled support corpus. Most questions have been answered before.</a:t>
            </a:r>
            <a:endParaRPr lang="en-US" sz="1350" dirty="0"/>
          </a:p>
        </p:txBody>
      </p:sp>
      <p:sp>
        <p:nvSpPr>
          <p:cNvPr id="9" name="Text 7"/>
          <p:cNvSpPr/>
          <p:nvPr/>
        </p:nvSpPr>
        <p:spPr>
          <a:xfrm>
            <a:off x="960120" y="4681728"/>
            <a:ext cx="2722778" cy="274320"/>
          </a:xfrm>
          <a:prstGeom prst="rect">
            <a:avLst/>
          </a:prstGeom>
          <a:noFill/>
          <a:ln/>
        </p:spPr>
        <p:txBody>
          <a:bodyPr wrap="square" lIns="0" tIns="0" rIns="0" bIns="0" rtlCol="0" anchor="ctr"/>
          <a:lstStyle/>
          <a:p>
            <a:pPr marL="0" indent="0">
              <a:buNone/>
            </a:pPr>
            <a:r>
              <a:rPr lang="en-US" sz="1150" b="1" dirty="0">
                <a:solidFill>
                  <a:srgbClr val="0A5A62"/>
                </a:solidFill>
                <a:latin typeface="Consolas" pitchFamily="34" charset="0"/>
                <a:ea typeface="Consolas" pitchFamily="34" charset="-122"/>
                <a:cs typeface="Consolas" pitchFamily="34" charset="-120"/>
              </a:rPr>
              <a:t>search_kb</a:t>
            </a:r>
            <a:endParaRPr lang="en-US" sz="1150" dirty="0"/>
          </a:p>
        </p:txBody>
      </p:sp>
      <p:sp>
        <p:nvSpPr>
          <p:cNvPr id="10" name="Shape 8"/>
          <p:cNvSpPr/>
          <p:nvPr/>
        </p:nvSpPr>
        <p:spPr>
          <a:xfrm>
            <a:off x="4414418" y="1965960"/>
            <a:ext cx="3362858" cy="3108960"/>
          </a:xfrm>
          <a:prstGeom prst="roundRect">
            <a:avLst>
              <a:gd name="adj" fmla="val 3235"/>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1" name="Shape 9"/>
          <p:cNvSpPr/>
          <p:nvPr/>
        </p:nvSpPr>
        <p:spPr>
          <a:xfrm>
            <a:off x="4734458" y="2286000"/>
            <a:ext cx="512064" cy="512064"/>
          </a:xfrm>
          <a:prstGeom prst="ellipse">
            <a:avLst/>
          </a:prstGeom>
          <a:solidFill>
            <a:srgbClr val="0E7C86"/>
          </a:solidFill>
          <a:ln/>
        </p:spPr>
        <p:txBody>
          <a:bodyPr/>
          <a:lstStyle/>
          <a:p>
            <a:endParaRPr lang="en-US"/>
          </a:p>
        </p:txBody>
      </p:sp>
      <p:sp>
        <p:nvSpPr>
          <p:cNvPr id="12" name="Text 10"/>
          <p:cNvSpPr/>
          <p:nvPr/>
        </p:nvSpPr>
        <p:spPr>
          <a:xfrm>
            <a:off x="4734458" y="2286000"/>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3" name="Text 11"/>
          <p:cNvSpPr/>
          <p:nvPr/>
        </p:nvSpPr>
        <p:spPr>
          <a:xfrm>
            <a:off x="4734458" y="3017520"/>
            <a:ext cx="2722778" cy="548640"/>
          </a:xfrm>
          <a:prstGeom prst="rect">
            <a:avLst/>
          </a:prstGeom>
          <a:noFill/>
          <a:ln/>
        </p:spPr>
        <p:txBody>
          <a:bodyPr wrap="square" lIns="0" tIns="0" rIns="0" bIns="0" rtlCol="0" anchor="ctr"/>
          <a:lstStyle/>
          <a:p>
            <a:pPr marL="0" indent="0">
              <a:buNone/>
            </a:pPr>
            <a:r>
              <a:rPr lang="en-US" sz="1850" b="1" dirty="0">
                <a:solidFill>
                  <a:srgbClr val="17323B"/>
                </a:solidFill>
                <a:latin typeface="Calibri" pitchFamily="34" charset="0"/>
                <a:ea typeface="Calibri" pitchFamily="34" charset="-122"/>
                <a:cs typeface="Calibri" pitchFamily="34" charset="-120"/>
              </a:rPr>
              <a:t>Read the docs</a:t>
            </a:r>
            <a:endParaRPr lang="en-US" sz="1850" dirty="0"/>
          </a:p>
        </p:txBody>
      </p:sp>
      <p:sp>
        <p:nvSpPr>
          <p:cNvPr id="14" name="Text 12"/>
          <p:cNvSpPr/>
          <p:nvPr/>
        </p:nvSpPr>
        <p:spPr>
          <a:xfrm>
            <a:off x="4734458" y="3611880"/>
            <a:ext cx="2722778" cy="1188720"/>
          </a:xfrm>
          <a:prstGeom prst="rect">
            <a:avLst/>
          </a:prstGeom>
          <a:noFill/>
          <a:ln/>
        </p:spPr>
        <p:txBody>
          <a:bodyPr wrap="square" lIns="0" tIns="0" rIns="0" bIns="0" rtlCol="0" anchor="ctr"/>
          <a:lstStyle/>
          <a:p>
            <a:pPr marL="0" indent="0">
              <a:buNone/>
            </a:pPr>
            <a:r>
              <a:rPr lang="en-US" sz="1350" dirty="0">
                <a:solidFill>
                  <a:srgbClr val="5F777F"/>
                </a:solidFill>
                <a:latin typeface="Calibri" pitchFamily="34" charset="0"/>
                <a:ea typeface="Calibri" pitchFamily="34" charset="-122"/>
                <a:cs typeface="Calibri" pitchFamily="34" charset="-120"/>
              </a:rPr>
              <a:t>Pulls the relevant documentation for the app — and the specific version in play.</a:t>
            </a:r>
            <a:endParaRPr lang="en-US" sz="1350" dirty="0"/>
          </a:p>
        </p:txBody>
      </p:sp>
      <p:sp>
        <p:nvSpPr>
          <p:cNvPr id="15" name="Text 13"/>
          <p:cNvSpPr/>
          <p:nvPr/>
        </p:nvSpPr>
        <p:spPr>
          <a:xfrm>
            <a:off x="4734458" y="4681728"/>
            <a:ext cx="2722778" cy="274320"/>
          </a:xfrm>
          <a:prstGeom prst="rect">
            <a:avLst/>
          </a:prstGeom>
          <a:noFill/>
          <a:ln/>
        </p:spPr>
        <p:txBody>
          <a:bodyPr wrap="square" lIns="0" tIns="0" rIns="0" bIns="0" rtlCol="0" anchor="ctr"/>
          <a:lstStyle/>
          <a:p>
            <a:pPr marL="0" indent="0">
              <a:buNone/>
            </a:pPr>
            <a:r>
              <a:rPr lang="en-US" sz="1150" b="1" dirty="0">
                <a:solidFill>
                  <a:srgbClr val="0A5A62"/>
                </a:solidFill>
                <a:latin typeface="Consolas" pitchFamily="34" charset="0"/>
                <a:ea typeface="Consolas" pitchFamily="34" charset="-122"/>
                <a:cs typeface="Consolas" pitchFamily="34" charset="-120"/>
              </a:rPr>
              <a:t>docs</a:t>
            </a:r>
            <a:endParaRPr lang="en-US" sz="1150" dirty="0"/>
          </a:p>
        </p:txBody>
      </p:sp>
      <p:sp>
        <p:nvSpPr>
          <p:cNvPr id="16" name="Shape 14"/>
          <p:cNvSpPr/>
          <p:nvPr/>
        </p:nvSpPr>
        <p:spPr>
          <a:xfrm>
            <a:off x="8188757" y="1965960"/>
            <a:ext cx="3362858" cy="3108960"/>
          </a:xfrm>
          <a:prstGeom prst="roundRect">
            <a:avLst>
              <a:gd name="adj" fmla="val 3235"/>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7" name="Shape 15"/>
          <p:cNvSpPr/>
          <p:nvPr/>
        </p:nvSpPr>
        <p:spPr>
          <a:xfrm>
            <a:off x="8508797" y="2286000"/>
            <a:ext cx="512064" cy="512064"/>
          </a:xfrm>
          <a:prstGeom prst="ellipse">
            <a:avLst/>
          </a:prstGeom>
          <a:solidFill>
            <a:srgbClr val="0E7C86"/>
          </a:solidFill>
          <a:ln/>
        </p:spPr>
        <p:txBody>
          <a:bodyPr/>
          <a:lstStyle/>
          <a:p>
            <a:endParaRPr lang="en-US"/>
          </a:p>
        </p:txBody>
      </p:sp>
      <p:sp>
        <p:nvSpPr>
          <p:cNvPr id="18" name="Text 16"/>
          <p:cNvSpPr/>
          <p:nvPr/>
        </p:nvSpPr>
        <p:spPr>
          <a:xfrm>
            <a:off x="8508797" y="2286000"/>
            <a:ext cx="512064" cy="512064"/>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9" name="Text 17"/>
          <p:cNvSpPr/>
          <p:nvPr/>
        </p:nvSpPr>
        <p:spPr>
          <a:xfrm>
            <a:off x="8508797" y="3017520"/>
            <a:ext cx="2722778" cy="548640"/>
          </a:xfrm>
          <a:prstGeom prst="rect">
            <a:avLst/>
          </a:prstGeom>
          <a:noFill/>
          <a:ln/>
        </p:spPr>
        <p:txBody>
          <a:bodyPr wrap="square" lIns="0" tIns="0" rIns="0" bIns="0" rtlCol="0" anchor="ctr"/>
          <a:lstStyle/>
          <a:p>
            <a:pPr marL="0" indent="0">
              <a:buNone/>
            </a:pPr>
            <a:r>
              <a:rPr lang="en-US" sz="1850" b="1" dirty="0">
                <a:solidFill>
                  <a:srgbClr val="17323B"/>
                </a:solidFill>
                <a:latin typeface="Calibri" pitchFamily="34" charset="0"/>
                <a:ea typeface="Calibri" pitchFamily="34" charset="-122"/>
                <a:cs typeface="Calibri" pitchFamily="34" charset="-120"/>
              </a:rPr>
              <a:t>Grep the real code</a:t>
            </a:r>
            <a:endParaRPr lang="en-US" sz="1850" dirty="0"/>
          </a:p>
        </p:txBody>
      </p:sp>
      <p:sp>
        <p:nvSpPr>
          <p:cNvPr id="20" name="Text 18"/>
          <p:cNvSpPr/>
          <p:nvPr/>
        </p:nvSpPr>
        <p:spPr>
          <a:xfrm>
            <a:off x="8508797" y="3611880"/>
            <a:ext cx="2722778" cy="1188720"/>
          </a:xfrm>
          <a:prstGeom prst="rect">
            <a:avLst/>
          </a:prstGeom>
          <a:noFill/>
          <a:ln/>
        </p:spPr>
        <p:txBody>
          <a:bodyPr wrap="square" lIns="0" tIns="0" rIns="0" bIns="0" rtlCol="0" anchor="ctr"/>
          <a:lstStyle/>
          <a:p>
            <a:pPr marL="0" indent="0">
              <a:buNone/>
            </a:pPr>
            <a:r>
              <a:rPr lang="en-US" sz="1350" dirty="0">
                <a:solidFill>
                  <a:srgbClr val="5F777F"/>
                </a:solidFill>
                <a:latin typeface="Calibri" pitchFamily="34" charset="0"/>
                <a:ea typeface="Calibri" pitchFamily="34" charset="-122"/>
                <a:cs typeface="Calibri" pitchFamily="34" charset="-120"/>
              </a:rPr>
              <a:t>For a novel traceback, it searches the source at the version you ran and reads the raising line.</a:t>
            </a:r>
            <a:endParaRPr lang="en-US" sz="1350" dirty="0"/>
          </a:p>
        </p:txBody>
      </p:sp>
      <p:sp>
        <p:nvSpPr>
          <p:cNvPr id="21" name="Text 19"/>
          <p:cNvSpPr/>
          <p:nvPr/>
        </p:nvSpPr>
        <p:spPr>
          <a:xfrm>
            <a:off x="8508797" y="4681728"/>
            <a:ext cx="2722778" cy="274320"/>
          </a:xfrm>
          <a:prstGeom prst="rect">
            <a:avLst/>
          </a:prstGeom>
          <a:noFill/>
          <a:ln/>
        </p:spPr>
        <p:txBody>
          <a:bodyPr wrap="square" lIns="0" tIns="0" rIns="0" bIns="0" rtlCol="0" anchor="ctr"/>
          <a:lstStyle/>
          <a:p>
            <a:pPr marL="0" indent="0">
              <a:buNone/>
            </a:pPr>
            <a:r>
              <a:rPr lang="en-US" sz="1150" b="1" dirty="0">
                <a:solidFill>
                  <a:srgbClr val="0A5A62"/>
                </a:solidFill>
                <a:latin typeface="Consolas" pitchFamily="34" charset="0"/>
                <a:ea typeface="Consolas" pitchFamily="34" charset="-122"/>
                <a:cs typeface="Consolas" pitchFamily="34" charset="-120"/>
              </a:rPr>
              <a:t>grep_code · read_file</a:t>
            </a:r>
            <a:endParaRPr lang="en-US" sz="1150" dirty="0"/>
          </a:p>
        </p:txBody>
      </p:sp>
      <p:sp>
        <p:nvSpPr>
          <p:cNvPr id="22" name="Text 20"/>
          <p:cNvSpPr/>
          <p:nvPr/>
        </p:nvSpPr>
        <p:spPr>
          <a:xfrm>
            <a:off x="640080" y="5532120"/>
            <a:ext cx="10911535" cy="457200"/>
          </a:xfrm>
          <a:prstGeom prst="rect">
            <a:avLst/>
          </a:prstGeom>
          <a:noFill/>
          <a:ln/>
        </p:spPr>
        <p:txBody>
          <a:bodyPr wrap="square" lIns="0" tIns="0" rIns="0" bIns="0" rtlCol="0" anchor="ctr"/>
          <a:lstStyle/>
          <a:p>
            <a:pPr marL="0" indent="0">
              <a:buNone/>
            </a:pPr>
            <a:r>
              <a:rPr lang="en-US" sz="1500" i="1" dirty="0">
                <a:solidFill>
                  <a:srgbClr val="0A5A62"/>
                </a:solidFill>
                <a:latin typeface="Calibri" pitchFamily="34" charset="0"/>
                <a:ea typeface="Calibri" pitchFamily="34" charset="-122"/>
                <a:cs typeface="Calibri" pitchFamily="34" charset="-120"/>
              </a:rPr>
              <a:t>Diagnostic, not just retrieval: it may reason beyond the text — but labels guesses and cites what it used.</a:t>
            </a:r>
            <a:endParaRPr lang="en-US" sz="1500" dirty="0"/>
          </a:p>
        </p:txBody>
      </p:sp>
      <p:sp>
        <p:nvSpPr>
          <p:cNvPr id="23" name="Text 21"/>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24" name="Text 22"/>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Calibri" pitchFamily="34" charset="0"/>
                <a:ea typeface="Calibri" pitchFamily="34" charset="-122"/>
                <a:cs typeface="Calibri" pitchFamily="34" charset="-120"/>
              </a:rPr>
              <a:t>UNDER THE HOOD · RETRIEVAL</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Two kinds of search, fused</a:t>
            </a:r>
            <a:endParaRPr lang="en-US" sz="3400" dirty="0"/>
          </a:p>
        </p:txBody>
      </p:sp>
      <p:sp>
        <p:nvSpPr>
          <p:cNvPr id="4" name="Shape 2"/>
          <p:cNvSpPr/>
          <p:nvPr/>
        </p:nvSpPr>
        <p:spPr>
          <a:xfrm>
            <a:off x="640080" y="2011680"/>
            <a:ext cx="5852160" cy="1417320"/>
          </a:xfrm>
          <a:prstGeom prst="roundRect">
            <a:avLst>
              <a:gd name="adj" fmla="val 7097"/>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5" name="Shape 3"/>
          <p:cNvSpPr/>
          <p:nvPr/>
        </p:nvSpPr>
        <p:spPr>
          <a:xfrm>
            <a:off x="932688" y="2286000"/>
            <a:ext cx="146304" cy="868680"/>
          </a:xfrm>
          <a:prstGeom prst="roundRect">
            <a:avLst>
              <a:gd name="adj" fmla="val 37500"/>
            </a:avLst>
          </a:prstGeom>
          <a:solidFill>
            <a:srgbClr val="17B39B"/>
          </a:solidFill>
          <a:ln/>
        </p:spPr>
        <p:txBody>
          <a:bodyPr/>
          <a:lstStyle/>
          <a:p>
            <a:endParaRPr lang="en-US"/>
          </a:p>
        </p:txBody>
      </p:sp>
      <p:sp>
        <p:nvSpPr>
          <p:cNvPr id="6" name="Text 4"/>
          <p:cNvSpPr/>
          <p:nvPr/>
        </p:nvSpPr>
        <p:spPr>
          <a:xfrm>
            <a:off x="1234440" y="2267712"/>
            <a:ext cx="4937760" cy="411480"/>
          </a:xfrm>
          <a:prstGeom prst="rect">
            <a:avLst/>
          </a:prstGeom>
          <a:noFill/>
          <a:ln/>
        </p:spPr>
        <p:txBody>
          <a:bodyPr wrap="square" lIns="0" tIns="0" rIns="0" bIns="0" rtlCol="0" anchor="ctr"/>
          <a:lstStyle/>
          <a:p>
            <a:pPr marL="0" indent="0">
              <a:buNone/>
            </a:pPr>
            <a:r>
              <a:rPr lang="en-US" sz="1700" b="1" dirty="0">
                <a:solidFill>
                  <a:srgbClr val="17323B"/>
                </a:solidFill>
                <a:latin typeface="Calibri" pitchFamily="34" charset="0"/>
                <a:ea typeface="Calibri" pitchFamily="34" charset="-122"/>
                <a:cs typeface="Calibri" pitchFamily="34" charset="-120"/>
              </a:rPr>
              <a:t>Meaning (dense vectors)</a:t>
            </a:r>
            <a:endParaRPr lang="en-US" sz="1700" dirty="0"/>
          </a:p>
        </p:txBody>
      </p:sp>
      <p:sp>
        <p:nvSpPr>
          <p:cNvPr id="7" name="Text 5"/>
          <p:cNvSpPr/>
          <p:nvPr/>
        </p:nvSpPr>
        <p:spPr>
          <a:xfrm>
            <a:off x="1234440" y="2670048"/>
            <a:ext cx="4937760" cy="640080"/>
          </a:xfrm>
          <a:prstGeom prst="rect">
            <a:avLst/>
          </a:prstGeom>
          <a:noFill/>
          <a:ln/>
        </p:spPr>
        <p:txBody>
          <a:bodyPr wrap="square" lIns="0" tIns="0" rIns="0" bIns="0" rtlCol="0" anchor="ctr"/>
          <a:lstStyle/>
          <a:p>
            <a:pPr marL="0" indent="0">
              <a:buNone/>
            </a:pPr>
            <a:r>
              <a:rPr lang="en-US" sz="1350" dirty="0">
                <a:solidFill>
                  <a:srgbClr val="5F777F"/>
                </a:solidFill>
                <a:latin typeface="Calibri" pitchFamily="34" charset="0"/>
                <a:ea typeface="Calibri" pitchFamily="34" charset="-122"/>
                <a:cs typeface="Calibri" pitchFamily="34" charset="-120"/>
              </a:rPr>
              <a:t>Catches paraphrases — “out-of-memory during eddy” finds a thread worded differently.</a:t>
            </a:r>
            <a:endParaRPr lang="en-US" sz="1350" dirty="0"/>
          </a:p>
        </p:txBody>
      </p:sp>
      <p:sp>
        <p:nvSpPr>
          <p:cNvPr id="8" name="Shape 6"/>
          <p:cNvSpPr/>
          <p:nvPr/>
        </p:nvSpPr>
        <p:spPr>
          <a:xfrm>
            <a:off x="640080" y="3611880"/>
            <a:ext cx="5852160" cy="1417320"/>
          </a:xfrm>
          <a:prstGeom prst="roundRect">
            <a:avLst>
              <a:gd name="adj" fmla="val 7097"/>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9" name="Shape 7"/>
          <p:cNvSpPr/>
          <p:nvPr/>
        </p:nvSpPr>
        <p:spPr>
          <a:xfrm>
            <a:off x="932688" y="3886200"/>
            <a:ext cx="146304" cy="868680"/>
          </a:xfrm>
          <a:prstGeom prst="roundRect">
            <a:avLst>
              <a:gd name="adj" fmla="val 37500"/>
            </a:avLst>
          </a:prstGeom>
          <a:solidFill>
            <a:srgbClr val="E8A33D"/>
          </a:solidFill>
          <a:ln/>
        </p:spPr>
        <p:txBody>
          <a:bodyPr/>
          <a:lstStyle/>
          <a:p>
            <a:endParaRPr lang="en-US"/>
          </a:p>
        </p:txBody>
      </p:sp>
      <p:sp>
        <p:nvSpPr>
          <p:cNvPr id="10" name="Text 8"/>
          <p:cNvSpPr/>
          <p:nvPr/>
        </p:nvSpPr>
        <p:spPr>
          <a:xfrm>
            <a:off x="1234440" y="3867912"/>
            <a:ext cx="4937760" cy="411480"/>
          </a:xfrm>
          <a:prstGeom prst="rect">
            <a:avLst/>
          </a:prstGeom>
          <a:noFill/>
          <a:ln/>
        </p:spPr>
        <p:txBody>
          <a:bodyPr wrap="square" lIns="0" tIns="0" rIns="0" bIns="0" rtlCol="0" anchor="ctr"/>
          <a:lstStyle/>
          <a:p>
            <a:pPr marL="0" indent="0">
              <a:buNone/>
            </a:pPr>
            <a:r>
              <a:rPr lang="en-US" sz="1700" b="1" dirty="0">
                <a:solidFill>
                  <a:srgbClr val="17323B"/>
                </a:solidFill>
                <a:latin typeface="Calibri" pitchFamily="34" charset="0"/>
                <a:ea typeface="Calibri" pitchFamily="34" charset="-122"/>
                <a:cs typeface="Calibri" pitchFamily="34" charset="-120"/>
              </a:rPr>
              <a:t>Exact text (BM25 keyword)</a:t>
            </a:r>
            <a:endParaRPr lang="en-US" sz="1700" dirty="0"/>
          </a:p>
        </p:txBody>
      </p:sp>
      <p:sp>
        <p:nvSpPr>
          <p:cNvPr id="11" name="Text 9"/>
          <p:cNvSpPr/>
          <p:nvPr/>
        </p:nvSpPr>
        <p:spPr>
          <a:xfrm>
            <a:off x="1234440" y="4270248"/>
            <a:ext cx="4937760" cy="640080"/>
          </a:xfrm>
          <a:prstGeom prst="rect">
            <a:avLst/>
          </a:prstGeom>
          <a:noFill/>
          <a:ln/>
        </p:spPr>
        <p:txBody>
          <a:bodyPr wrap="square" lIns="0" tIns="0" rIns="0" bIns="0" rtlCol="0" anchor="ctr"/>
          <a:lstStyle/>
          <a:p>
            <a:pPr marL="0" indent="0">
              <a:buNone/>
            </a:pPr>
            <a:r>
              <a:rPr lang="en-US" sz="1350" dirty="0">
                <a:solidFill>
                  <a:srgbClr val="5F777F"/>
                </a:solidFill>
                <a:latin typeface="Calibri" pitchFamily="34" charset="0"/>
                <a:ea typeface="Calibri" pitchFamily="34" charset="-122"/>
                <a:cs typeface="Calibri" pitchFamily="34" charset="-120"/>
              </a:rPr>
              <a:t>Catches literal error strings &amp; identifiers — what vectors blur.</a:t>
            </a:r>
            <a:endParaRPr lang="en-US" sz="1350" dirty="0"/>
          </a:p>
        </p:txBody>
      </p:sp>
      <p:sp>
        <p:nvSpPr>
          <p:cNvPr id="12" name="Shape 10"/>
          <p:cNvSpPr/>
          <p:nvPr/>
        </p:nvSpPr>
        <p:spPr>
          <a:xfrm>
            <a:off x="6537960" y="3337560"/>
            <a:ext cx="640080" cy="0"/>
          </a:xfrm>
          <a:prstGeom prst="line">
            <a:avLst/>
          </a:prstGeom>
          <a:noFill/>
          <a:ln w="31750">
            <a:solidFill>
              <a:srgbClr val="0E7C86"/>
            </a:solidFill>
            <a:prstDash val="solid"/>
            <a:tailEnd type="triangle"/>
          </a:ln>
        </p:spPr>
        <p:txBody>
          <a:bodyPr/>
          <a:lstStyle/>
          <a:p>
            <a:endParaRPr lang="en-US"/>
          </a:p>
        </p:txBody>
      </p:sp>
      <p:sp>
        <p:nvSpPr>
          <p:cNvPr id="13" name="Shape 11"/>
          <p:cNvSpPr/>
          <p:nvPr/>
        </p:nvSpPr>
        <p:spPr>
          <a:xfrm>
            <a:off x="7269480" y="2011680"/>
            <a:ext cx="4282135" cy="2788920"/>
          </a:xfrm>
          <a:prstGeom prst="roundRect">
            <a:avLst>
              <a:gd name="adj" fmla="val 3279"/>
            </a:avLst>
          </a:prstGeom>
          <a:solidFill>
            <a:srgbClr val="0F2E3D"/>
          </a:solidFill>
          <a:ln/>
          <a:effectLst>
            <a:outerShdw blurRad="114300" dist="38100" dir="5400000" algn="bl" rotWithShape="0">
              <a:srgbClr val="0A2530">
                <a:alpha val="16000"/>
              </a:srgbClr>
            </a:outerShdw>
          </a:effectLst>
        </p:spPr>
        <p:txBody>
          <a:bodyPr/>
          <a:lstStyle/>
          <a:p>
            <a:endParaRPr lang="en-US"/>
          </a:p>
        </p:txBody>
      </p:sp>
      <p:sp>
        <p:nvSpPr>
          <p:cNvPr id="14" name="Text 12"/>
          <p:cNvSpPr/>
          <p:nvPr/>
        </p:nvSpPr>
        <p:spPr>
          <a:xfrm>
            <a:off x="7589520" y="2286000"/>
            <a:ext cx="3642055"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Fused by rank</a:t>
            </a:r>
            <a:endParaRPr lang="en-US" sz="2000" dirty="0"/>
          </a:p>
        </p:txBody>
      </p:sp>
      <p:sp>
        <p:nvSpPr>
          <p:cNvPr id="15" name="Text 13"/>
          <p:cNvSpPr/>
          <p:nvPr/>
        </p:nvSpPr>
        <p:spPr>
          <a:xfrm>
            <a:off x="7589520" y="2788920"/>
            <a:ext cx="3642055" cy="914400"/>
          </a:xfrm>
          <a:prstGeom prst="rect">
            <a:avLst/>
          </a:prstGeom>
          <a:noFill/>
          <a:ln/>
        </p:spPr>
        <p:txBody>
          <a:bodyPr wrap="square" lIns="0" tIns="0" rIns="0" bIns="0" rtlCol="0" anchor="ctr"/>
          <a:lstStyle/>
          <a:p>
            <a:pPr marL="0" indent="0">
              <a:buNone/>
            </a:pPr>
            <a:r>
              <a:rPr lang="en-US" sz="1400" dirty="0">
                <a:solidFill>
                  <a:srgbClr val="EEF5F6"/>
                </a:solidFill>
                <a:latin typeface="Calibri" pitchFamily="34" charset="0"/>
                <a:ea typeface="Calibri" pitchFamily="34" charset="-122"/>
                <a:cs typeface="Calibri" pitchFamily="34" charset="-120"/>
              </a:rPr>
              <a:t>Results from both are merged so a snippet strong in either method rises to the top.</a:t>
            </a:r>
            <a:endParaRPr lang="en-US" sz="1400" dirty="0"/>
          </a:p>
        </p:txBody>
      </p:sp>
      <p:sp>
        <p:nvSpPr>
          <p:cNvPr id="16" name="Text 14"/>
          <p:cNvSpPr/>
          <p:nvPr/>
        </p:nvSpPr>
        <p:spPr>
          <a:xfrm>
            <a:off x="7589520" y="3794760"/>
            <a:ext cx="3642055" cy="274320"/>
          </a:xfrm>
          <a:prstGeom prst="rect">
            <a:avLst/>
          </a:prstGeom>
          <a:noFill/>
          <a:ln/>
        </p:spPr>
        <p:txBody>
          <a:bodyPr wrap="square" lIns="0" tIns="0" rIns="0" bIns="0" rtlCol="0" anchor="ctr"/>
          <a:lstStyle/>
          <a:p>
            <a:pPr marL="0" indent="0">
              <a:buNone/>
            </a:pPr>
            <a:r>
              <a:rPr lang="en-US" sz="1200" b="1" kern="0" spc="100" dirty="0">
                <a:solidFill>
                  <a:srgbClr val="17B39B"/>
                </a:solidFill>
                <a:latin typeface="Calibri" pitchFamily="34" charset="0"/>
                <a:ea typeface="Calibri" pitchFamily="34" charset="-122"/>
                <a:cs typeface="Calibri" pitchFamily="34" charset="-120"/>
              </a:rPr>
              <a:t>Why it matters</a:t>
            </a:r>
            <a:endParaRPr lang="en-US" sz="1200" dirty="0"/>
          </a:p>
        </p:txBody>
      </p:sp>
      <p:sp>
        <p:nvSpPr>
          <p:cNvPr id="17" name="Text 15"/>
          <p:cNvSpPr/>
          <p:nvPr/>
        </p:nvSpPr>
        <p:spPr>
          <a:xfrm>
            <a:off x="7589520" y="4069080"/>
            <a:ext cx="3642055" cy="73152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Error strings are exact-match creatures. Keyword search rescues cases pure “meaning” retrieval misses.</a:t>
            </a:r>
            <a:endParaRPr lang="en-US" sz="1350" dirty="0"/>
          </a:p>
        </p:txBody>
      </p:sp>
      <p:sp>
        <p:nvSpPr>
          <p:cNvPr id="18" name="Text 16"/>
          <p:cNvSpPr/>
          <p:nvPr/>
        </p:nvSpPr>
        <p:spPr>
          <a:xfrm>
            <a:off x="640080" y="5806440"/>
            <a:ext cx="10911535" cy="457200"/>
          </a:xfrm>
          <a:prstGeom prst="rect">
            <a:avLst/>
          </a:prstGeom>
          <a:noFill/>
          <a:ln/>
        </p:spPr>
        <p:txBody>
          <a:bodyPr wrap="square" lIns="0" tIns="0" rIns="0" bIns="0" rtlCol="0" anchor="ctr"/>
          <a:lstStyle/>
          <a:p>
            <a:pPr marL="0" indent="0">
              <a:buNone/>
            </a:pPr>
            <a:r>
              <a:rPr lang="en-US" sz="1450" b="1" dirty="0">
                <a:solidFill>
                  <a:srgbClr val="0A5A62"/>
                </a:solidFill>
                <a:latin typeface="Calibri" pitchFamily="34" charset="0"/>
                <a:ea typeface="Calibri" pitchFamily="34" charset="-122"/>
                <a:cs typeface="Calibri" pitchFamily="34" charset="-120"/>
              </a:rPr>
              <a:t>The corpus is prose (issues, threads, docs). Code is never embedded — it's grepped live at the right version.</a:t>
            </a:r>
            <a:endParaRPr lang="en-US" sz="1450" dirty="0"/>
          </a:p>
        </p:txBody>
      </p:sp>
      <p:sp>
        <p:nvSpPr>
          <p:cNvPr id="19" name="Text 17"/>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20" name="Text 18"/>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Calibri" pitchFamily="34" charset="0"/>
                <a:ea typeface="Calibri" pitchFamily="34" charset="-122"/>
                <a:cs typeface="Calibri" pitchFamily="34" charset="-120"/>
              </a:rPr>
              <a:t>UNDER THE HOOD · ROUTING</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Two answer paths, picked automatically</a:t>
            </a:r>
            <a:endParaRPr lang="en-US" sz="3400" dirty="0"/>
          </a:p>
        </p:txBody>
      </p:sp>
      <p:sp>
        <p:nvSpPr>
          <p:cNvPr id="4" name="Shape 2"/>
          <p:cNvSpPr/>
          <p:nvPr/>
        </p:nvSpPr>
        <p:spPr>
          <a:xfrm>
            <a:off x="5272888" y="1874520"/>
            <a:ext cx="914400" cy="914400"/>
          </a:xfrm>
          <a:prstGeom prst="ellipse">
            <a:avLst/>
          </a:prstGeom>
          <a:solidFill>
            <a:srgbClr val="0F2E3D"/>
          </a:solidFill>
          <a:ln/>
        </p:spPr>
        <p:txBody>
          <a:bodyPr/>
          <a:lstStyle/>
          <a:p>
            <a:endParaRPr lang="en-US"/>
          </a:p>
        </p:txBody>
      </p:sp>
      <p:sp>
        <p:nvSpPr>
          <p:cNvPr id="5" name="Text 3"/>
          <p:cNvSpPr/>
          <p:nvPr/>
        </p:nvSpPr>
        <p:spPr>
          <a:xfrm>
            <a:off x="5272888" y="187452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6" name="Text 4"/>
          <p:cNvSpPr/>
          <p:nvPr/>
        </p:nvSpPr>
        <p:spPr>
          <a:xfrm>
            <a:off x="4632808" y="2816352"/>
            <a:ext cx="2926080" cy="320040"/>
          </a:xfrm>
          <a:prstGeom prst="rect">
            <a:avLst/>
          </a:prstGeom>
          <a:noFill/>
          <a:ln/>
        </p:spPr>
        <p:txBody>
          <a:bodyPr wrap="square" lIns="0" tIns="0" rIns="0" bIns="0" rtlCol="0" anchor="ctr"/>
          <a:lstStyle/>
          <a:p>
            <a:pPr marL="0" indent="0" algn="ctr">
              <a:buNone/>
            </a:pPr>
            <a:r>
              <a:rPr lang="en-US" sz="1400" b="1" dirty="0">
                <a:solidFill>
                  <a:srgbClr val="17323B"/>
                </a:solidFill>
                <a:latin typeface="Calibri" pitchFamily="34" charset="0"/>
                <a:ea typeface="Calibri" pitchFamily="34" charset="-122"/>
                <a:cs typeface="Calibri" pitchFamily="34" charset="-120"/>
              </a:rPr>
              <a:t>Router</a:t>
            </a:r>
            <a:endParaRPr lang="en-US" sz="1400" dirty="0"/>
          </a:p>
        </p:txBody>
      </p:sp>
      <p:sp>
        <p:nvSpPr>
          <p:cNvPr id="7" name="Shape 5"/>
          <p:cNvSpPr/>
          <p:nvPr/>
        </p:nvSpPr>
        <p:spPr>
          <a:xfrm>
            <a:off x="5958688" y="2331720"/>
            <a:ext cx="0" cy="1005840"/>
          </a:xfrm>
          <a:prstGeom prst="line">
            <a:avLst/>
          </a:prstGeom>
          <a:noFill/>
          <a:ln w="31750">
            <a:solidFill>
              <a:srgbClr val="17B39B"/>
            </a:solidFill>
            <a:prstDash val="solid"/>
            <a:tailEnd type="triangle"/>
          </a:ln>
        </p:spPr>
        <p:txBody>
          <a:bodyPr/>
          <a:lstStyle/>
          <a:p>
            <a:endParaRPr lang="en-US"/>
          </a:p>
        </p:txBody>
      </p:sp>
      <p:sp>
        <p:nvSpPr>
          <p:cNvPr id="8" name="Shape 6"/>
          <p:cNvSpPr/>
          <p:nvPr/>
        </p:nvSpPr>
        <p:spPr>
          <a:xfrm>
            <a:off x="640080" y="3383280"/>
            <a:ext cx="5074920" cy="2331720"/>
          </a:xfrm>
          <a:prstGeom prst="roundRect">
            <a:avLst>
              <a:gd name="adj" fmla="val 3922"/>
            </a:avLst>
          </a:prstGeom>
          <a:solidFill>
            <a:srgbClr val="EEF5F6"/>
          </a:solidFill>
          <a:ln w="19050">
            <a:solidFill>
              <a:srgbClr val="17B39B"/>
            </a:solidFill>
            <a:prstDash val="solid"/>
          </a:ln>
          <a:effectLst>
            <a:outerShdw blurRad="114300" dist="38100" dir="5400000" algn="bl" rotWithShape="0">
              <a:srgbClr val="0A2530">
                <a:alpha val="16000"/>
              </a:srgbClr>
            </a:outerShdw>
          </a:effectLst>
        </p:spPr>
        <p:txBody>
          <a:bodyPr/>
          <a:lstStyle/>
          <a:p>
            <a:endParaRPr lang="en-US"/>
          </a:p>
        </p:txBody>
      </p:sp>
      <p:sp>
        <p:nvSpPr>
          <p:cNvPr id="9" name="Text 7"/>
          <p:cNvSpPr/>
          <p:nvPr/>
        </p:nvSpPr>
        <p:spPr>
          <a:xfrm>
            <a:off x="960120" y="3639312"/>
            <a:ext cx="4434840" cy="365760"/>
          </a:xfrm>
          <a:prstGeom prst="rect">
            <a:avLst/>
          </a:prstGeom>
          <a:noFill/>
          <a:ln/>
        </p:spPr>
        <p:txBody>
          <a:bodyPr wrap="square" lIns="0" tIns="0" rIns="0" bIns="0" rtlCol="0" anchor="ctr"/>
          <a:lstStyle/>
          <a:p>
            <a:pPr marL="0" indent="0">
              <a:buNone/>
            </a:pPr>
            <a:r>
              <a:rPr lang="en-US" sz="1300" b="1" kern="0" spc="100" dirty="0">
                <a:solidFill>
                  <a:srgbClr val="17B39B"/>
                </a:solidFill>
                <a:latin typeface="Calibri" pitchFamily="34" charset="0"/>
                <a:ea typeface="Calibri" pitchFamily="34" charset="-122"/>
                <a:cs typeface="Calibri" pitchFamily="34" charset="-120"/>
              </a:rPr>
              <a:t>FAQ-shaped question</a:t>
            </a:r>
            <a:endParaRPr lang="en-US" sz="1300" dirty="0"/>
          </a:p>
        </p:txBody>
      </p:sp>
      <p:sp>
        <p:nvSpPr>
          <p:cNvPr id="10" name="Text 8"/>
          <p:cNvSpPr/>
          <p:nvPr/>
        </p:nvSpPr>
        <p:spPr>
          <a:xfrm>
            <a:off x="960120" y="3950208"/>
            <a:ext cx="4434840" cy="457200"/>
          </a:xfrm>
          <a:prstGeom prst="rect">
            <a:avLst/>
          </a:prstGeom>
          <a:noFill/>
          <a:ln/>
        </p:spPr>
        <p:txBody>
          <a:bodyPr wrap="square" lIns="0" tIns="0" rIns="0" bIns="0" rtlCol="0" anchor="ctr"/>
          <a:lstStyle/>
          <a:p>
            <a:pPr marL="0" indent="0">
              <a:buNone/>
            </a:pPr>
            <a:r>
              <a:rPr lang="en-US" sz="2200" b="1" dirty="0">
                <a:solidFill>
                  <a:srgbClr val="17323B"/>
                </a:solidFill>
                <a:latin typeface="Cambria" pitchFamily="34" charset="0"/>
                <a:ea typeface="Cambria" pitchFamily="34" charset="-122"/>
                <a:cs typeface="Cambria" pitchFamily="34" charset="-120"/>
              </a:rPr>
              <a:t>One-shot answer</a:t>
            </a:r>
            <a:endParaRPr lang="en-US" sz="2200" dirty="0"/>
          </a:p>
        </p:txBody>
      </p:sp>
      <p:sp>
        <p:nvSpPr>
          <p:cNvPr id="11" name="Text 9"/>
          <p:cNvSpPr/>
          <p:nvPr/>
        </p:nvSpPr>
        <p:spPr>
          <a:xfrm>
            <a:off x="1097280" y="4480560"/>
            <a:ext cx="4343400" cy="109728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17323B"/>
                </a:solidFill>
                <a:latin typeface="Calibri" pitchFamily="34" charset="0"/>
                <a:ea typeface="Calibri" pitchFamily="34" charset="-122"/>
                <a:cs typeface="Calibri" pitchFamily="34" charset="-120"/>
              </a:rPr>
              <a:t>Answer straight from the retrieved snippets</a:t>
            </a:r>
            <a:endParaRPr lang="en-US" sz="1350" dirty="0"/>
          </a:p>
          <a:p>
            <a:pPr marL="342900" indent="-342900">
              <a:spcAft>
                <a:spcPts val="600"/>
              </a:spcAft>
              <a:buSzPct val="100000"/>
              <a:buChar char="•"/>
            </a:pPr>
            <a:r>
              <a:rPr lang="en-US" sz="1350" dirty="0">
                <a:solidFill>
                  <a:srgbClr val="17323B"/>
                </a:solidFill>
                <a:latin typeface="Calibri" pitchFamily="34" charset="0"/>
                <a:ea typeface="Calibri" pitchFamily="34" charset="-122"/>
                <a:cs typeface="Calibri" pitchFamily="34" charset="-120"/>
              </a:rPr>
              <a:t>Fast — seconds, a fraction of a cent</a:t>
            </a:r>
            <a:endParaRPr lang="en-US" sz="1350" dirty="0"/>
          </a:p>
          <a:p>
            <a:pPr marL="342900" indent="-342900">
              <a:spcAft>
                <a:spcPts val="600"/>
              </a:spcAft>
              <a:buSzPct val="100000"/>
              <a:buChar char="•"/>
            </a:pPr>
            <a:r>
              <a:rPr lang="en-US" sz="1350" dirty="0">
                <a:solidFill>
                  <a:srgbClr val="17323B"/>
                </a:solidFill>
                <a:latin typeface="Calibri" pitchFamily="34" charset="0"/>
                <a:ea typeface="Calibri" pitchFamily="34" charset="-122"/>
                <a:cs typeface="Calibri" pitchFamily="34" charset="-120"/>
              </a:rPr>
              <a:t>Handles the common, already-answered majority</a:t>
            </a:r>
            <a:endParaRPr lang="en-US" sz="1350" dirty="0"/>
          </a:p>
        </p:txBody>
      </p:sp>
      <p:sp>
        <p:nvSpPr>
          <p:cNvPr id="12" name="Shape 10"/>
          <p:cNvSpPr/>
          <p:nvPr/>
        </p:nvSpPr>
        <p:spPr>
          <a:xfrm>
            <a:off x="6233008" y="2331720"/>
            <a:ext cx="2781148" cy="1005840"/>
          </a:xfrm>
          <a:prstGeom prst="line">
            <a:avLst/>
          </a:prstGeom>
          <a:noFill/>
          <a:ln w="31750">
            <a:solidFill>
              <a:srgbClr val="E8A33D"/>
            </a:solidFill>
            <a:prstDash val="solid"/>
            <a:tailEnd type="triangle"/>
          </a:ln>
        </p:spPr>
        <p:txBody>
          <a:bodyPr/>
          <a:lstStyle/>
          <a:p>
            <a:endParaRPr lang="en-US"/>
          </a:p>
        </p:txBody>
      </p:sp>
      <p:sp>
        <p:nvSpPr>
          <p:cNvPr id="13" name="Shape 11"/>
          <p:cNvSpPr/>
          <p:nvPr/>
        </p:nvSpPr>
        <p:spPr>
          <a:xfrm>
            <a:off x="6476695" y="3383280"/>
            <a:ext cx="5074920" cy="2331720"/>
          </a:xfrm>
          <a:prstGeom prst="roundRect">
            <a:avLst>
              <a:gd name="adj" fmla="val 3922"/>
            </a:avLst>
          </a:prstGeom>
          <a:solidFill>
            <a:srgbClr val="EEF5F6"/>
          </a:solidFill>
          <a:ln w="19050">
            <a:solidFill>
              <a:srgbClr val="E8A33D"/>
            </a:solidFill>
            <a:prstDash val="solid"/>
          </a:ln>
          <a:effectLst>
            <a:outerShdw blurRad="114300" dist="38100" dir="5400000" algn="bl" rotWithShape="0">
              <a:srgbClr val="0A2530">
                <a:alpha val="16000"/>
              </a:srgbClr>
            </a:outerShdw>
          </a:effectLst>
        </p:spPr>
        <p:txBody>
          <a:bodyPr/>
          <a:lstStyle/>
          <a:p>
            <a:endParaRPr lang="en-US"/>
          </a:p>
        </p:txBody>
      </p:sp>
      <p:sp>
        <p:nvSpPr>
          <p:cNvPr id="14" name="Text 12"/>
          <p:cNvSpPr/>
          <p:nvPr/>
        </p:nvSpPr>
        <p:spPr>
          <a:xfrm>
            <a:off x="6796735" y="3639312"/>
            <a:ext cx="4434840" cy="365760"/>
          </a:xfrm>
          <a:prstGeom prst="rect">
            <a:avLst/>
          </a:prstGeom>
          <a:noFill/>
          <a:ln/>
        </p:spPr>
        <p:txBody>
          <a:bodyPr wrap="square" lIns="0" tIns="0" rIns="0" bIns="0" rtlCol="0" anchor="ctr"/>
          <a:lstStyle/>
          <a:p>
            <a:pPr marL="0" indent="0">
              <a:buNone/>
            </a:pPr>
            <a:r>
              <a:rPr lang="en-US" sz="1300" b="1" kern="0" spc="100" dirty="0">
                <a:solidFill>
                  <a:srgbClr val="B9822A"/>
                </a:solidFill>
                <a:latin typeface="Calibri" pitchFamily="34" charset="0"/>
                <a:ea typeface="Calibri" pitchFamily="34" charset="-122"/>
                <a:cs typeface="Calibri" pitchFamily="34" charset="-120"/>
              </a:rPr>
              <a:t>Novel traceback / code question</a:t>
            </a:r>
            <a:endParaRPr lang="en-US" sz="1300" dirty="0"/>
          </a:p>
        </p:txBody>
      </p:sp>
      <p:sp>
        <p:nvSpPr>
          <p:cNvPr id="15" name="Text 13"/>
          <p:cNvSpPr/>
          <p:nvPr/>
        </p:nvSpPr>
        <p:spPr>
          <a:xfrm>
            <a:off x="6796735" y="3950208"/>
            <a:ext cx="4434840" cy="457200"/>
          </a:xfrm>
          <a:prstGeom prst="rect">
            <a:avLst/>
          </a:prstGeom>
          <a:noFill/>
          <a:ln/>
        </p:spPr>
        <p:txBody>
          <a:bodyPr wrap="square" lIns="0" tIns="0" rIns="0" bIns="0" rtlCol="0" anchor="ctr"/>
          <a:lstStyle/>
          <a:p>
            <a:pPr marL="0" indent="0">
              <a:buNone/>
            </a:pPr>
            <a:r>
              <a:rPr lang="en-US" sz="2200" b="1" dirty="0">
                <a:solidFill>
                  <a:srgbClr val="17323B"/>
                </a:solidFill>
                <a:latin typeface="Cambria" pitchFamily="34" charset="0"/>
                <a:ea typeface="Cambria" pitchFamily="34" charset="-122"/>
                <a:cs typeface="Cambria" pitchFamily="34" charset="-120"/>
              </a:rPr>
              <a:t>Agentic tool loop</a:t>
            </a:r>
            <a:endParaRPr lang="en-US" sz="2200" dirty="0"/>
          </a:p>
        </p:txBody>
      </p:sp>
      <p:sp>
        <p:nvSpPr>
          <p:cNvPr id="16" name="Text 14"/>
          <p:cNvSpPr/>
          <p:nvPr/>
        </p:nvSpPr>
        <p:spPr>
          <a:xfrm>
            <a:off x="6933895" y="4480560"/>
            <a:ext cx="4343400" cy="109728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17323B"/>
                </a:solidFill>
                <a:latin typeface="Calibri" pitchFamily="34" charset="0"/>
                <a:ea typeface="Calibri" pitchFamily="34" charset="-122"/>
                <a:cs typeface="Calibri" pitchFamily="34" charset="-120"/>
              </a:rPr>
              <a:t>Calls tools in a loop until it can answer</a:t>
            </a:r>
            <a:endParaRPr lang="en-US" sz="1350" dirty="0"/>
          </a:p>
          <a:p>
            <a:pPr marL="342900" indent="-342900">
              <a:spcAft>
                <a:spcPts val="600"/>
              </a:spcAft>
              <a:buSzPct val="100000"/>
              <a:buChar char="•"/>
            </a:pPr>
            <a:r>
              <a:rPr lang="en-US" sz="1350" dirty="0">
                <a:solidFill>
                  <a:srgbClr val="17323B"/>
                </a:solidFill>
                <a:latin typeface="Calibri" pitchFamily="34" charset="0"/>
                <a:ea typeface="Calibri" pitchFamily="34" charset="-122"/>
                <a:cs typeface="Calibri" pitchFamily="34" charset="-120"/>
              </a:rPr>
              <a:t>Slower — ~a minute, ~15¢ a question</a:t>
            </a:r>
            <a:endParaRPr lang="en-US" sz="1350" dirty="0"/>
          </a:p>
          <a:p>
            <a:pPr marL="342900" indent="-342900">
              <a:spcAft>
                <a:spcPts val="600"/>
              </a:spcAft>
              <a:buSzPct val="100000"/>
              <a:buChar char="•"/>
            </a:pPr>
            <a:r>
              <a:rPr lang="en-US" sz="1350" dirty="0">
                <a:solidFill>
                  <a:srgbClr val="17323B"/>
                </a:solidFill>
                <a:latin typeface="Calibri" pitchFamily="34" charset="0"/>
                <a:ea typeface="Calibri" pitchFamily="34" charset="-122"/>
                <a:cs typeface="Calibri" pitchFamily="34" charset="-120"/>
              </a:rPr>
              <a:t>Diagnoses the hard, one-off cases</a:t>
            </a:r>
            <a:endParaRPr lang="en-US" sz="1350" dirty="0"/>
          </a:p>
        </p:txBody>
      </p:sp>
      <p:sp>
        <p:nvSpPr>
          <p:cNvPr id="17" name="Text 15"/>
          <p:cNvSpPr/>
          <p:nvPr/>
        </p:nvSpPr>
        <p:spPr>
          <a:xfrm>
            <a:off x="640080" y="5989320"/>
            <a:ext cx="10911535" cy="365760"/>
          </a:xfrm>
          <a:prstGeom prst="rect">
            <a:avLst/>
          </a:prstGeom>
          <a:noFill/>
          <a:ln/>
        </p:spPr>
        <p:txBody>
          <a:bodyPr wrap="square" lIns="0" tIns="0" rIns="0" bIns="0" rtlCol="0" anchor="ctr"/>
          <a:lstStyle/>
          <a:p>
            <a:pPr marL="0" indent="0" algn="ctr">
              <a:buNone/>
            </a:pPr>
            <a:r>
              <a:rPr lang="en-US" sz="1450" i="1" dirty="0">
                <a:solidFill>
                  <a:srgbClr val="0A5A62"/>
                </a:solidFill>
                <a:latin typeface="Calibri" pitchFamily="34" charset="0"/>
                <a:ea typeface="Calibri" pitchFamily="34" charset="-122"/>
                <a:cs typeface="Calibri" pitchFamily="34" charset="-120"/>
              </a:rPr>
              <a:t>Cheap FAQ path for the majority; the expensive reasoning path only when the question earns it.</a:t>
            </a:r>
            <a:endParaRPr lang="en-US" sz="1450" dirty="0"/>
          </a:p>
        </p:txBody>
      </p:sp>
      <p:sp>
        <p:nvSpPr>
          <p:cNvPr id="18" name="Text 16"/>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19" name="Text 17"/>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E3D"/>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marL="0" indent="0">
              <a:buNone/>
            </a:pPr>
            <a:r>
              <a:rPr lang="en-US" sz="1200" b="1" kern="0" spc="300" dirty="0">
                <a:solidFill>
                  <a:srgbClr val="17B39B"/>
                </a:solidFill>
                <a:latin typeface="Calibri" pitchFamily="34" charset="0"/>
                <a:ea typeface="Calibri" pitchFamily="34" charset="-122"/>
                <a:cs typeface="Calibri" pitchFamily="34" charset="-120"/>
              </a:rPr>
              <a:t>UNDER THE HOOD · THE AGENT</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The agent retraces the maintainer's steps</a:t>
            </a:r>
            <a:endParaRPr lang="en-US" sz="3400" dirty="0"/>
          </a:p>
        </p:txBody>
      </p:sp>
      <p:sp>
        <p:nvSpPr>
          <p:cNvPr id="4" name="Shape 2"/>
          <p:cNvSpPr/>
          <p:nvPr/>
        </p:nvSpPr>
        <p:spPr>
          <a:xfrm>
            <a:off x="723748" y="2286000"/>
            <a:ext cx="3246120" cy="2148840"/>
          </a:xfrm>
          <a:prstGeom prst="roundRect">
            <a:avLst>
              <a:gd name="adj" fmla="val 4255"/>
            </a:avLst>
          </a:prstGeom>
          <a:solidFill>
            <a:srgbClr val="0B2531"/>
          </a:solidFill>
          <a:ln w="12700">
            <a:solidFill>
              <a:srgbClr val="0A5A62"/>
            </a:solidFill>
            <a:prstDash val="solid"/>
          </a:ln>
        </p:spPr>
        <p:txBody>
          <a:bodyPr/>
          <a:lstStyle/>
          <a:p>
            <a:endParaRPr lang="en-US"/>
          </a:p>
        </p:txBody>
      </p:sp>
      <p:sp>
        <p:nvSpPr>
          <p:cNvPr id="5" name="Shape 3"/>
          <p:cNvSpPr/>
          <p:nvPr/>
        </p:nvSpPr>
        <p:spPr>
          <a:xfrm>
            <a:off x="998068" y="2560320"/>
            <a:ext cx="457200" cy="457200"/>
          </a:xfrm>
          <a:prstGeom prst="ellipse">
            <a:avLst/>
          </a:prstGeom>
          <a:solidFill>
            <a:srgbClr val="17B39B"/>
          </a:solidFill>
          <a:ln/>
        </p:spPr>
        <p:txBody>
          <a:bodyPr/>
          <a:lstStyle/>
          <a:p>
            <a:endParaRPr lang="en-US"/>
          </a:p>
        </p:txBody>
      </p:sp>
      <p:sp>
        <p:nvSpPr>
          <p:cNvPr id="6" name="Text 4"/>
          <p:cNvSpPr/>
          <p:nvPr/>
        </p:nvSpPr>
        <p:spPr>
          <a:xfrm>
            <a:off x="998068" y="2560320"/>
            <a:ext cx="457200" cy="457200"/>
          </a:xfrm>
          <a:prstGeom prst="rect">
            <a:avLst/>
          </a:prstGeom>
          <a:noFill/>
          <a:ln/>
        </p:spPr>
        <p:txBody>
          <a:bodyPr wrap="square" lIns="0" tIns="0" rIns="0" bIns="0" rtlCol="0" anchor="ctr"/>
          <a:lstStyle/>
          <a:p>
            <a:pPr marL="0" indent="0" algn="ctr">
              <a:buNone/>
            </a:pPr>
            <a:r>
              <a:rPr lang="en-US" sz="1700" b="1" dirty="0">
                <a:solidFill>
                  <a:srgbClr val="0F2E3D"/>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92428" y="2596896"/>
            <a:ext cx="2240280" cy="411480"/>
          </a:xfrm>
          <a:prstGeom prst="rect">
            <a:avLst/>
          </a:prstGeom>
          <a:noFill/>
          <a:ln/>
        </p:spPr>
        <p:txBody>
          <a:bodyPr wrap="square" lIns="0" tIns="0" rIns="0" bIns="0" rtlCol="0" anchor="ctr"/>
          <a:lstStyle/>
          <a:p>
            <a:pPr marL="0" indent="0">
              <a:buNone/>
            </a:pPr>
            <a:r>
              <a:rPr lang="en-US" sz="1700" b="1" dirty="0">
                <a:solidFill>
                  <a:srgbClr val="E8A33D"/>
                </a:solidFill>
                <a:latin typeface="Consolas" pitchFamily="34" charset="0"/>
                <a:ea typeface="Consolas" pitchFamily="34" charset="-122"/>
                <a:cs typeface="Consolas" pitchFamily="34" charset="-120"/>
              </a:rPr>
              <a:t>search_kb</a:t>
            </a:r>
            <a:endParaRPr lang="en-US" sz="1700" dirty="0"/>
          </a:p>
        </p:txBody>
      </p:sp>
      <p:sp>
        <p:nvSpPr>
          <p:cNvPr id="8" name="Text 6"/>
          <p:cNvSpPr/>
          <p:nvPr/>
        </p:nvSpPr>
        <p:spPr>
          <a:xfrm>
            <a:off x="1016356" y="3200400"/>
            <a:ext cx="2697480" cy="1097280"/>
          </a:xfrm>
          <a:prstGeom prst="rect">
            <a:avLst/>
          </a:prstGeom>
          <a:noFill/>
          <a:ln/>
        </p:spPr>
        <p:txBody>
          <a:bodyPr wrap="square" lIns="0" tIns="0" rIns="0" bIns="0" rtlCol="0" anchor="ctr"/>
          <a:lstStyle/>
          <a:p>
            <a:pPr marL="0" indent="0">
              <a:buNone/>
            </a:pPr>
            <a:r>
              <a:rPr lang="en-US" sz="1350" dirty="0">
                <a:solidFill>
                  <a:srgbClr val="EEF5F6"/>
                </a:solidFill>
                <a:latin typeface="Calibri" pitchFamily="34" charset="0"/>
                <a:ea typeface="Calibri" pitchFamily="34" charset="-122"/>
                <a:cs typeface="Calibri" pitchFamily="34" charset="-120"/>
              </a:rPr>
              <a:t>“Did someone hit this?” — checks the index first.</a:t>
            </a:r>
            <a:endParaRPr lang="en-US" sz="1350" dirty="0"/>
          </a:p>
        </p:txBody>
      </p:sp>
      <p:sp>
        <p:nvSpPr>
          <p:cNvPr id="9" name="Shape 7"/>
          <p:cNvSpPr/>
          <p:nvPr/>
        </p:nvSpPr>
        <p:spPr>
          <a:xfrm>
            <a:off x="4024732" y="3355848"/>
            <a:ext cx="393192" cy="0"/>
          </a:xfrm>
          <a:prstGeom prst="line">
            <a:avLst/>
          </a:prstGeom>
          <a:noFill/>
          <a:ln w="31750">
            <a:solidFill>
              <a:srgbClr val="17B39B"/>
            </a:solidFill>
            <a:prstDash val="solid"/>
            <a:tailEnd type="triangle"/>
          </a:ln>
        </p:spPr>
        <p:txBody>
          <a:bodyPr/>
          <a:lstStyle/>
          <a:p>
            <a:endParaRPr lang="en-US"/>
          </a:p>
        </p:txBody>
      </p:sp>
      <p:sp>
        <p:nvSpPr>
          <p:cNvPr id="10" name="Shape 8"/>
          <p:cNvSpPr/>
          <p:nvPr/>
        </p:nvSpPr>
        <p:spPr>
          <a:xfrm>
            <a:off x="4472788" y="2286000"/>
            <a:ext cx="3246120" cy="2148840"/>
          </a:xfrm>
          <a:prstGeom prst="roundRect">
            <a:avLst>
              <a:gd name="adj" fmla="val 4255"/>
            </a:avLst>
          </a:prstGeom>
          <a:solidFill>
            <a:srgbClr val="0B2531"/>
          </a:solidFill>
          <a:ln w="12700">
            <a:solidFill>
              <a:srgbClr val="0A5A62"/>
            </a:solidFill>
            <a:prstDash val="solid"/>
          </a:ln>
        </p:spPr>
        <p:txBody>
          <a:bodyPr/>
          <a:lstStyle/>
          <a:p>
            <a:endParaRPr lang="en-US"/>
          </a:p>
        </p:txBody>
      </p:sp>
      <p:sp>
        <p:nvSpPr>
          <p:cNvPr id="11" name="Shape 9"/>
          <p:cNvSpPr/>
          <p:nvPr/>
        </p:nvSpPr>
        <p:spPr>
          <a:xfrm>
            <a:off x="4747108" y="2560320"/>
            <a:ext cx="457200" cy="457200"/>
          </a:xfrm>
          <a:prstGeom prst="ellipse">
            <a:avLst/>
          </a:prstGeom>
          <a:solidFill>
            <a:srgbClr val="17B39B"/>
          </a:solidFill>
          <a:ln/>
        </p:spPr>
        <p:txBody>
          <a:bodyPr/>
          <a:lstStyle/>
          <a:p>
            <a:endParaRPr lang="en-US"/>
          </a:p>
        </p:txBody>
      </p:sp>
      <p:sp>
        <p:nvSpPr>
          <p:cNvPr id="12" name="Text 10"/>
          <p:cNvSpPr/>
          <p:nvPr/>
        </p:nvSpPr>
        <p:spPr>
          <a:xfrm>
            <a:off x="4747108" y="2560320"/>
            <a:ext cx="457200" cy="457200"/>
          </a:xfrm>
          <a:prstGeom prst="rect">
            <a:avLst/>
          </a:prstGeom>
          <a:noFill/>
          <a:ln/>
        </p:spPr>
        <p:txBody>
          <a:bodyPr wrap="square" lIns="0" tIns="0" rIns="0" bIns="0" rtlCol="0" anchor="ctr"/>
          <a:lstStyle/>
          <a:p>
            <a:pPr marL="0" indent="0" algn="ctr">
              <a:buNone/>
            </a:pPr>
            <a:r>
              <a:rPr lang="en-US" sz="1700" b="1" dirty="0">
                <a:solidFill>
                  <a:srgbClr val="0F2E3D"/>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5341468" y="2596896"/>
            <a:ext cx="2240280" cy="411480"/>
          </a:xfrm>
          <a:prstGeom prst="rect">
            <a:avLst/>
          </a:prstGeom>
          <a:noFill/>
          <a:ln/>
        </p:spPr>
        <p:txBody>
          <a:bodyPr wrap="square" lIns="0" tIns="0" rIns="0" bIns="0" rtlCol="0" anchor="ctr"/>
          <a:lstStyle/>
          <a:p>
            <a:pPr marL="0" indent="0">
              <a:buNone/>
            </a:pPr>
            <a:r>
              <a:rPr lang="en-US" sz="1700" b="1" dirty="0">
                <a:solidFill>
                  <a:srgbClr val="E8A33D"/>
                </a:solidFill>
                <a:latin typeface="Consolas" pitchFamily="34" charset="0"/>
                <a:ea typeface="Consolas" pitchFamily="34" charset="-122"/>
                <a:cs typeface="Consolas" pitchFamily="34" charset="-120"/>
              </a:rPr>
              <a:t>grep_code</a:t>
            </a:r>
            <a:endParaRPr lang="en-US" sz="1700" dirty="0"/>
          </a:p>
        </p:txBody>
      </p:sp>
      <p:sp>
        <p:nvSpPr>
          <p:cNvPr id="14" name="Text 12"/>
          <p:cNvSpPr/>
          <p:nvPr/>
        </p:nvSpPr>
        <p:spPr>
          <a:xfrm>
            <a:off x="4765396" y="3200400"/>
            <a:ext cx="2697480" cy="1097280"/>
          </a:xfrm>
          <a:prstGeom prst="rect">
            <a:avLst/>
          </a:prstGeom>
          <a:noFill/>
          <a:ln/>
        </p:spPr>
        <p:txBody>
          <a:bodyPr wrap="square" lIns="0" tIns="0" rIns="0" bIns="0" rtlCol="0" anchor="ctr"/>
          <a:lstStyle/>
          <a:p>
            <a:pPr marL="0" indent="0">
              <a:buNone/>
            </a:pPr>
            <a:r>
              <a:rPr lang="en-US" sz="1350" dirty="0">
                <a:solidFill>
                  <a:srgbClr val="EEF5F6"/>
                </a:solidFill>
                <a:latin typeface="Calibri" pitchFamily="34" charset="0"/>
                <a:ea typeface="Calibri" pitchFamily="34" charset="-122"/>
                <a:cs typeface="Calibri" pitchFamily="34" charset="-120"/>
              </a:rPr>
              <a:t>Searches the source at the version you ran for the error string.</a:t>
            </a:r>
            <a:endParaRPr lang="en-US" sz="1350" dirty="0"/>
          </a:p>
        </p:txBody>
      </p:sp>
      <p:sp>
        <p:nvSpPr>
          <p:cNvPr id="15" name="Shape 13"/>
          <p:cNvSpPr/>
          <p:nvPr/>
        </p:nvSpPr>
        <p:spPr>
          <a:xfrm>
            <a:off x="7773772" y="3355848"/>
            <a:ext cx="393192" cy="0"/>
          </a:xfrm>
          <a:prstGeom prst="line">
            <a:avLst/>
          </a:prstGeom>
          <a:noFill/>
          <a:ln w="31750">
            <a:solidFill>
              <a:srgbClr val="17B39B"/>
            </a:solidFill>
            <a:prstDash val="solid"/>
            <a:tailEnd type="triangle"/>
          </a:ln>
        </p:spPr>
        <p:txBody>
          <a:bodyPr/>
          <a:lstStyle/>
          <a:p>
            <a:endParaRPr lang="en-US"/>
          </a:p>
        </p:txBody>
      </p:sp>
      <p:sp>
        <p:nvSpPr>
          <p:cNvPr id="16" name="Shape 14"/>
          <p:cNvSpPr/>
          <p:nvPr/>
        </p:nvSpPr>
        <p:spPr>
          <a:xfrm>
            <a:off x="8221828" y="2286000"/>
            <a:ext cx="3246120" cy="2148840"/>
          </a:xfrm>
          <a:prstGeom prst="roundRect">
            <a:avLst>
              <a:gd name="adj" fmla="val 4255"/>
            </a:avLst>
          </a:prstGeom>
          <a:solidFill>
            <a:srgbClr val="0B2531"/>
          </a:solidFill>
          <a:ln w="12700">
            <a:solidFill>
              <a:srgbClr val="0A5A62"/>
            </a:solidFill>
            <a:prstDash val="solid"/>
          </a:ln>
        </p:spPr>
        <p:txBody>
          <a:bodyPr/>
          <a:lstStyle/>
          <a:p>
            <a:endParaRPr lang="en-US"/>
          </a:p>
        </p:txBody>
      </p:sp>
      <p:sp>
        <p:nvSpPr>
          <p:cNvPr id="17" name="Shape 15"/>
          <p:cNvSpPr/>
          <p:nvPr/>
        </p:nvSpPr>
        <p:spPr>
          <a:xfrm>
            <a:off x="8496148" y="2560320"/>
            <a:ext cx="457200" cy="457200"/>
          </a:xfrm>
          <a:prstGeom prst="ellipse">
            <a:avLst/>
          </a:prstGeom>
          <a:solidFill>
            <a:srgbClr val="17B39B"/>
          </a:solidFill>
          <a:ln/>
        </p:spPr>
        <p:txBody>
          <a:bodyPr/>
          <a:lstStyle/>
          <a:p>
            <a:endParaRPr lang="en-US"/>
          </a:p>
        </p:txBody>
      </p:sp>
      <p:sp>
        <p:nvSpPr>
          <p:cNvPr id="18" name="Text 16"/>
          <p:cNvSpPr/>
          <p:nvPr/>
        </p:nvSpPr>
        <p:spPr>
          <a:xfrm>
            <a:off x="8496148" y="2560320"/>
            <a:ext cx="457200" cy="457200"/>
          </a:xfrm>
          <a:prstGeom prst="rect">
            <a:avLst/>
          </a:prstGeom>
          <a:noFill/>
          <a:ln/>
        </p:spPr>
        <p:txBody>
          <a:bodyPr wrap="square" lIns="0" tIns="0" rIns="0" bIns="0" rtlCol="0" anchor="ctr"/>
          <a:lstStyle/>
          <a:p>
            <a:pPr marL="0" indent="0" algn="ctr">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9090508" y="2596896"/>
            <a:ext cx="2240280" cy="411480"/>
          </a:xfrm>
          <a:prstGeom prst="rect">
            <a:avLst/>
          </a:prstGeom>
          <a:noFill/>
          <a:ln/>
        </p:spPr>
        <p:txBody>
          <a:bodyPr wrap="square" lIns="0" tIns="0" rIns="0" bIns="0" rtlCol="0" anchor="ctr"/>
          <a:lstStyle/>
          <a:p>
            <a:pPr marL="0" indent="0">
              <a:buNone/>
            </a:pPr>
            <a:r>
              <a:rPr lang="en-US" sz="1700" b="1" dirty="0">
                <a:solidFill>
                  <a:srgbClr val="E8A33D"/>
                </a:solidFill>
                <a:latin typeface="Consolas" pitchFamily="34" charset="0"/>
                <a:ea typeface="Consolas" pitchFamily="34" charset="-122"/>
                <a:cs typeface="Consolas" pitchFamily="34" charset="-120"/>
              </a:rPr>
              <a:t>read_file</a:t>
            </a:r>
            <a:endParaRPr lang="en-US" sz="1700" dirty="0"/>
          </a:p>
        </p:txBody>
      </p:sp>
      <p:sp>
        <p:nvSpPr>
          <p:cNvPr id="20" name="Text 18"/>
          <p:cNvSpPr/>
          <p:nvPr/>
        </p:nvSpPr>
        <p:spPr>
          <a:xfrm>
            <a:off x="8514436" y="3200400"/>
            <a:ext cx="2697480" cy="1097280"/>
          </a:xfrm>
          <a:prstGeom prst="rect">
            <a:avLst/>
          </a:prstGeom>
          <a:noFill/>
          <a:ln/>
        </p:spPr>
        <p:txBody>
          <a:bodyPr wrap="square" lIns="0" tIns="0" rIns="0" bIns="0" rtlCol="0" anchor="ctr"/>
          <a:lstStyle/>
          <a:p>
            <a:pPr marL="0" indent="0">
              <a:buNone/>
            </a:pPr>
            <a:r>
              <a:rPr lang="en-US" sz="1350" dirty="0">
                <a:solidFill>
                  <a:srgbClr val="EEF5F6"/>
                </a:solidFill>
                <a:latin typeface="Calibri" pitchFamily="34" charset="0"/>
                <a:ea typeface="Calibri" pitchFamily="34" charset="-122"/>
                <a:cs typeface="Calibri" pitchFamily="34" charset="-120"/>
              </a:rPr>
              <a:t>Reads the raising code and returns a version-pinned permalink.</a:t>
            </a:r>
            <a:endParaRPr lang="en-US" sz="1350" dirty="0"/>
          </a:p>
        </p:txBody>
      </p:sp>
      <p:sp>
        <p:nvSpPr>
          <p:cNvPr id="21" name="Text 19"/>
          <p:cNvSpPr/>
          <p:nvPr/>
        </p:nvSpPr>
        <p:spPr>
          <a:xfrm>
            <a:off x="640080" y="4709160"/>
            <a:ext cx="10911535" cy="365760"/>
          </a:xfrm>
          <a:prstGeom prst="rect">
            <a:avLst/>
          </a:prstGeom>
          <a:noFill/>
          <a:ln/>
        </p:spPr>
        <p:txBody>
          <a:bodyPr wrap="square" lIns="0" tIns="0" rIns="0" bIns="0" rtlCol="0" anchor="ctr"/>
          <a:lstStyle/>
          <a:p>
            <a:pPr marL="0" indent="0" algn="ctr">
              <a:buNone/>
            </a:pPr>
            <a:r>
              <a:rPr lang="en-US" sz="1400" i="1" dirty="0">
                <a:solidFill>
                  <a:srgbClr val="17B39B"/>
                </a:solidFill>
                <a:latin typeface="Calibri" pitchFamily="34" charset="0"/>
                <a:ea typeface="Calibri" pitchFamily="34" charset="-122"/>
                <a:cs typeface="Calibri" pitchFamily="34" charset="-120"/>
              </a:rPr>
              <a:t>...loops until it can answer (capped), asking for the version if it matters.</a:t>
            </a:r>
            <a:endParaRPr lang="en-US" sz="1400" dirty="0"/>
          </a:p>
        </p:txBody>
      </p:sp>
      <p:sp>
        <p:nvSpPr>
          <p:cNvPr id="22" name="Shape 20"/>
          <p:cNvSpPr/>
          <p:nvPr/>
        </p:nvSpPr>
        <p:spPr>
          <a:xfrm>
            <a:off x="640080" y="5257800"/>
            <a:ext cx="10911535" cy="960120"/>
          </a:xfrm>
          <a:prstGeom prst="roundRect">
            <a:avLst>
              <a:gd name="adj" fmla="val 8571"/>
            </a:avLst>
          </a:prstGeom>
          <a:solidFill>
            <a:srgbClr val="12414E"/>
          </a:solidFill>
          <a:ln w="12700">
            <a:solidFill>
              <a:srgbClr val="0A5A62"/>
            </a:solidFill>
            <a:prstDash val="solid"/>
          </a:ln>
        </p:spPr>
        <p:txBody>
          <a:bodyPr/>
          <a:lstStyle/>
          <a:p>
            <a:endParaRPr lang="en-US"/>
          </a:p>
        </p:txBody>
      </p:sp>
      <p:sp>
        <p:nvSpPr>
          <p:cNvPr id="23" name="Text 21"/>
          <p:cNvSpPr/>
          <p:nvPr/>
        </p:nvSpPr>
        <p:spPr>
          <a:xfrm>
            <a:off x="960120" y="5394960"/>
            <a:ext cx="10271455" cy="685800"/>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Real example:  </a:t>
            </a:r>
            <a:r>
              <a:rPr lang="en-US" sz="1350" dirty="0">
                <a:solidFill>
                  <a:srgbClr val="EEF5F6"/>
                </a:solidFill>
                <a:latin typeface="Calibri" pitchFamily="34" charset="0"/>
                <a:ea typeface="Calibri" pitchFamily="34" charset="-122"/>
                <a:cs typeface="Calibri" pitchFamily="34" charset="-120"/>
              </a:rPr>
              <a:t>pasted a </a:t>
            </a:r>
            <a:r>
              <a:rPr lang="en-US" sz="1350" dirty="0">
                <a:solidFill>
                  <a:srgbClr val="FFFFFF"/>
                </a:solidFill>
                <a:latin typeface="Consolas" pitchFamily="34" charset="0"/>
                <a:ea typeface="Consolas" pitchFamily="34" charset="-122"/>
                <a:cs typeface="Consolas" pitchFamily="34" charset="-120"/>
              </a:rPr>
              <a:t>ValueError</a:t>
            </a:r>
            <a:r>
              <a:rPr lang="en-US" sz="1350" dirty="0">
                <a:solidFill>
                  <a:srgbClr val="EEF5F6"/>
                </a:solidFill>
                <a:latin typeface="Calibri" pitchFamily="34" charset="0"/>
                <a:ea typeface="Calibri" pitchFamily="34" charset="-122"/>
                <a:cs typeface="Calibri" pitchFamily="34" charset="-120"/>
              </a:rPr>
              <a:t> → agent grepped it, found the raising line, and returned a permalink pinned to qsiprep 26.0.0 — the version in the paste.</a:t>
            </a:r>
            <a:endParaRPr lang="en-US" sz="1350" dirty="0"/>
          </a:p>
        </p:txBody>
      </p:sp>
      <p:sp>
        <p:nvSpPr>
          <p:cNvPr id="24" name="Text 22"/>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25" name="Text 23"/>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Calibri" pitchFamily="34" charset="0"/>
                <a:ea typeface="Calibri" pitchFamily="34" charset="-122"/>
                <a:cs typeface="Calibri" pitchFamily="34" charset="-120"/>
              </a:rPr>
              <a:t>SCALING ACROSS TOOLS</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One assistant, many tools — by configuration</a:t>
            </a:r>
            <a:endParaRPr lang="en-US" sz="3400" dirty="0"/>
          </a:p>
        </p:txBody>
      </p:sp>
      <p:sp>
        <p:nvSpPr>
          <p:cNvPr id="4" name="Shape 2"/>
          <p:cNvSpPr/>
          <p:nvPr/>
        </p:nvSpPr>
        <p:spPr>
          <a:xfrm>
            <a:off x="640080" y="1965960"/>
            <a:ext cx="6035040" cy="1234440"/>
          </a:xfrm>
          <a:prstGeom prst="roundRect">
            <a:avLst>
              <a:gd name="adj" fmla="val 8148"/>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5" name="Shape 3"/>
          <p:cNvSpPr/>
          <p:nvPr/>
        </p:nvSpPr>
        <p:spPr>
          <a:xfrm>
            <a:off x="932688" y="2331720"/>
            <a:ext cx="457200" cy="457200"/>
          </a:xfrm>
          <a:prstGeom prst="ellipse">
            <a:avLst/>
          </a:prstGeom>
          <a:solidFill>
            <a:srgbClr val="0E7C86"/>
          </a:solidFill>
          <a:ln/>
        </p:spPr>
        <p:txBody>
          <a:bodyPr/>
          <a:lstStyle/>
          <a:p>
            <a:endParaRPr lang="en-US"/>
          </a:p>
        </p:txBody>
      </p:sp>
      <p:sp>
        <p:nvSpPr>
          <p:cNvPr id="6" name="Text 4"/>
          <p:cNvSpPr/>
          <p:nvPr/>
        </p:nvSpPr>
        <p:spPr>
          <a:xfrm>
            <a:off x="932688" y="233172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2148840"/>
            <a:ext cx="4846320" cy="384048"/>
          </a:xfrm>
          <a:prstGeom prst="rect">
            <a:avLst/>
          </a:prstGeom>
          <a:noFill/>
          <a:ln/>
        </p:spPr>
        <p:txBody>
          <a:bodyPr wrap="square" lIns="0" tIns="0" rIns="0" bIns="0" rtlCol="0" anchor="ctr"/>
          <a:lstStyle/>
          <a:p>
            <a:pPr marL="0" indent="0">
              <a:buNone/>
            </a:pPr>
            <a:r>
              <a:rPr lang="en-US" sz="1650" b="1" dirty="0">
                <a:solidFill>
                  <a:srgbClr val="17323B"/>
                </a:solidFill>
                <a:latin typeface="Calibri" pitchFamily="34" charset="0"/>
                <a:ea typeface="Calibri" pitchFamily="34" charset="-122"/>
                <a:cs typeface="Calibri" pitchFamily="34" charset="-120"/>
              </a:rPr>
              <a:t>Add an app = add config</a:t>
            </a:r>
            <a:endParaRPr lang="en-US" sz="1650" dirty="0"/>
          </a:p>
        </p:txBody>
      </p:sp>
      <p:sp>
        <p:nvSpPr>
          <p:cNvPr id="8" name="Text 6"/>
          <p:cNvSpPr/>
          <p:nvPr/>
        </p:nvSpPr>
        <p:spPr>
          <a:xfrm>
            <a:off x="1600200" y="2532888"/>
            <a:ext cx="4846320" cy="548640"/>
          </a:xfrm>
          <a:prstGeom prst="rect">
            <a:avLst/>
          </a:prstGeom>
          <a:noFill/>
          <a:ln/>
        </p:spPr>
        <p:txBody>
          <a:bodyPr wrap="square" lIns="0" tIns="0" rIns="0" bIns="0" rtlCol="0" anchor="ctr"/>
          <a:lstStyle/>
          <a:p>
            <a:pPr marL="0" indent="0">
              <a:buNone/>
            </a:pPr>
            <a:r>
              <a:rPr lang="en-US" sz="1300" dirty="0">
                <a:solidFill>
                  <a:srgbClr val="5F777F"/>
                </a:solidFill>
                <a:latin typeface="Calibri" pitchFamily="34" charset="0"/>
                <a:ea typeface="Calibri" pitchFamily="34" charset="-122"/>
                <a:cs typeface="Calibri" pitchFamily="34" charset="-120"/>
              </a:rPr>
              <a:t>New tool is mostly a config entry + a re-index. No new code.</a:t>
            </a:r>
            <a:endParaRPr lang="en-US" sz="1300" dirty="0"/>
          </a:p>
        </p:txBody>
      </p:sp>
      <p:sp>
        <p:nvSpPr>
          <p:cNvPr id="9" name="Shape 7"/>
          <p:cNvSpPr/>
          <p:nvPr/>
        </p:nvSpPr>
        <p:spPr>
          <a:xfrm>
            <a:off x="640080" y="3337560"/>
            <a:ext cx="6035040" cy="1234440"/>
          </a:xfrm>
          <a:prstGeom prst="roundRect">
            <a:avLst>
              <a:gd name="adj" fmla="val 8148"/>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0" name="Shape 8"/>
          <p:cNvSpPr/>
          <p:nvPr/>
        </p:nvSpPr>
        <p:spPr>
          <a:xfrm>
            <a:off x="932688" y="3703320"/>
            <a:ext cx="457200" cy="457200"/>
          </a:xfrm>
          <a:prstGeom prst="ellipse">
            <a:avLst/>
          </a:prstGeom>
          <a:solidFill>
            <a:srgbClr val="0E7C86"/>
          </a:solidFill>
          <a:ln/>
        </p:spPr>
        <p:txBody>
          <a:bodyPr/>
          <a:lstStyle/>
          <a:p>
            <a:endParaRPr lang="en-US"/>
          </a:p>
        </p:txBody>
      </p:sp>
      <p:sp>
        <p:nvSpPr>
          <p:cNvPr id="11" name="Text 9"/>
          <p:cNvSpPr/>
          <p:nvPr/>
        </p:nvSpPr>
        <p:spPr>
          <a:xfrm>
            <a:off x="932688" y="370332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600200" y="3520440"/>
            <a:ext cx="4846320" cy="384048"/>
          </a:xfrm>
          <a:prstGeom prst="rect">
            <a:avLst/>
          </a:prstGeom>
          <a:noFill/>
          <a:ln/>
        </p:spPr>
        <p:txBody>
          <a:bodyPr wrap="square" lIns="0" tIns="0" rIns="0" bIns="0" rtlCol="0" anchor="ctr"/>
          <a:lstStyle/>
          <a:p>
            <a:pPr marL="0" indent="0">
              <a:buNone/>
            </a:pPr>
            <a:r>
              <a:rPr lang="en-US" sz="1650" b="1" dirty="0">
                <a:solidFill>
                  <a:srgbClr val="17323B"/>
                </a:solidFill>
                <a:latin typeface="Calibri" pitchFamily="34" charset="0"/>
                <a:ea typeface="Calibri" pitchFamily="34" charset="-122"/>
                <a:cs typeface="Calibri" pitchFamily="34" charset="-120"/>
              </a:rPr>
              <a:t>Cross-app awareness</a:t>
            </a:r>
            <a:endParaRPr lang="en-US" sz="1650" dirty="0"/>
          </a:p>
        </p:txBody>
      </p:sp>
      <p:sp>
        <p:nvSpPr>
          <p:cNvPr id="13" name="Text 11"/>
          <p:cNvSpPr/>
          <p:nvPr/>
        </p:nvSpPr>
        <p:spPr>
          <a:xfrm>
            <a:off x="1600200" y="3904488"/>
            <a:ext cx="4846320" cy="548640"/>
          </a:xfrm>
          <a:prstGeom prst="rect">
            <a:avLst/>
          </a:prstGeom>
          <a:noFill/>
          <a:ln/>
        </p:spPr>
        <p:txBody>
          <a:bodyPr wrap="square" lIns="0" tIns="0" rIns="0" bIns="0" rtlCol="0" anchor="ctr"/>
          <a:lstStyle/>
          <a:p>
            <a:pPr marL="0" indent="0">
              <a:buNone/>
            </a:pPr>
            <a:r>
              <a:rPr lang="en-US" sz="1300" dirty="0">
                <a:solidFill>
                  <a:srgbClr val="5F777F"/>
                </a:solidFill>
                <a:latin typeface="Calibri" pitchFamily="34" charset="0"/>
                <a:ea typeface="Calibri" pitchFamily="34" charset="-122"/>
                <a:cs typeface="Calibri" pitchFamily="34" charset="-120"/>
              </a:rPr>
              <a:t>Pipeline neighbors share context — a qsiprep question can pull qsirecon.</a:t>
            </a:r>
            <a:endParaRPr lang="en-US" sz="1300" dirty="0"/>
          </a:p>
        </p:txBody>
      </p:sp>
      <p:sp>
        <p:nvSpPr>
          <p:cNvPr id="14" name="Shape 12"/>
          <p:cNvSpPr/>
          <p:nvPr/>
        </p:nvSpPr>
        <p:spPr>
          <a:xfrm>
            <a:off x="640080" y="4709160"/>
            <a:ext cx="6035040" cy="1234440"/>
          </a:xfrm>
          <a:prstGeom prst="roundRect">
            <a:avLst>
              <a:gd name="adj" fmla="val 8148"/>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5" name="Shape 13"/>
          <p:cNvSpPr/>
          <p:nvPr/>
        </p:nvSpPr>
        <p:spPr>
          <a:xfrm>
            <a:off x="932688" y="5074920"/>
            <a:ext cx="457200" cy="457200"/>
          </a:xfrm>
          <a:prstGeom prst="ellipse">
            <a:avLst/>
          </a:prstGeom>
          <a:solidFill>
            <a:srgbClr val="0E7C86"/>
          </a:solidFill>
          <a:ln/>
        </p:spPr>
        <p:txBody>
          <a:bodyPr/>
          <a:lstStyle/>
          <a:p>
            <a:endParaRPr lang="en-US"/>
          </a:p>
        </p:txBody>
      </p:sp>
      <p:sp>
        <p:nvSpPr>
          <p:cNvPr id="16" name="Text 14"/>
          <p:cNvSpPr/>
          <p:nvPr/>
        </p:nvSpPr>
        <p:spPr>
          <a:xfrm>
            <a:off x="932688" y="507492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600200" y="4892040"/>
            <a:ext cx="4846320" cy="384048"/>
          </a:xfrm>
          <a:prstGeom prst="rect">
            <a:avLst/>
          </a:prstGeom>
          <a:noFill/>
          <a:ln/>
        </p:spPr>
        <p:txBody>
          <a:bodyPr wrap="square" lIns="0" tIns="0" rIns="0" bIns="0" rtlCol="0" anchor="ctr"/>
          <a:lstStyle/>
          <a:p>
            <a:pPr marL="0" indent="0">
              <a:buNone/>
            </a:pPr>
            <a:r>
              <a:rPr lang="en-US" sz="1650" b="1" dirty="0">
                <a:solidFill>
                  <a:srgbClr val="17323B"/>
                </a:solidFill>
                <a:latin typeface="Calibri" pitchFamily="34" charset="0"/>
                <a:ea typeface="Calibri" pitchFamily="34" charset="-122"/>
                <a:cs typeface="Calibri" pitchFamily="34" charset="-120"/>
              </a:rPr>
              <a:t>Per-app “notes” fix known confusions</a:t>
            </a:r>
            <a:endParaRPr lang="en-US" sz="1650" dirty="0"/>
          </a:p>
        </p:txBody>
      </p:sp>
      <p:sp>
        <p:nvSpPr>
          <p:cNvPr id="18" name="Text 16"/>
          <p:cNvSpPr/>
          <p:nvPr/>
        </p:nvSpPr>
        <p:spPr>
          <a:xfrm>
            <a:off x="1600200" y="5276088"/>
            <a:ext cx="4846320" cy="548640"/>
          </a:xfrm>
          <a:prstGeom prst="rect">
            <a:avLst/>
          </a:prstGeom>
          <a:noFill/>
          <a:ln/>
        </p:spPr>
        <p:txBody>
          <a:bodyPr wrap="square" lIns="0" tIns="0" rIns="0" bIns="0" rtlCol="0" anchor="ctr"/>
          <a:lstStyle/>
          <a:p>
            <a:pPr marL="0" indent="0">
              <a:buNone/>
            </a:pPr>
            <a:r>
              <a:rPr lang="en-US" sz="1300" dirty="0">
                <a:solidFill>
                  <a:srgbClr val="5F777F"/>
                </a:solidFill>
                <a:latin typeface="Calibri" pitchFamily="34" charset="0"/>
                <a:ea typeface="Calibri" pitchFamily="34" charset="-122"/>
                <a:cs typeface="Calibri" pitchFamily="34" charset="-120"/>
              </a:rPr>
              <a:t>Authoritative facts injected into the prompt to correct the record.</a:t>
            </a:r>
            <a:endParaRPr lang="en-US" sz="1300" dirty="0"/>
          </a:p>
        </p:txBody>
      </p:sp>
      <p:sp>
        <p:nvSpPr>
          <p:cNvPr id="19" name="Shape 17"/>
          <p:cNvSpPr/>
          <p:nvPr/>
        </p:nvSpPr>
        <p:spPr>
          <a:xfrm>
            <a:off x="7040880" y="1965960"/>
            <a:ext cx="4510735" cy="3703320"/>
          </a:xfrm>
          <a:prstGeom prst="roundRect">
            <a:avLst>
              <a:gd name="adj" fmla="val 2469"/>
            </a:avLst>
          </a:prstGeom>
          <a:solidFill>
            <a:srgbClr val="0F2E3D"/>
          </a:solidFill>
          <a:ln/>
          <a:effectLst>
            <a:outerShdw blurRad="114300" dist="38100" dir="5400000" algn="bl" rotWithShape="0">
              <a:srgbClr val="0A2530">
                <a:alpha val="16000"/>
              </a:srgbClr>
            </a:outerShdw>
          </a:effectLst>
        </p:spPr>
        <p:txBody>
          <a:bodyPr/>
          <a:lstStyle/>
          <a:p>
            <a:endParaRPr lang="en-US"/>
          </a:p>
        </p:txBody>
      </p:sp>
      <p:sp>
        <p:nvSpPr>
          <p:cNvPr id="20" name="Text 18"/>
          <p:cNvSpPr/>
          <p:nvPr/>
        </p:nvSpPr>
        <p:spPr>
          <a:xfrm>
            <a:off x="7360920" y="2240280"/>
            <a:ext cx="7315200" cy="274320"/>
          </a:xfrm>
          <a:prstGeom prst="rect">
            <a:avLst/>
          </a:prstGeom>
          <a:noFill/>
          <a:ln/>
        </p:spPr>
        <p:txBody>
          <a:bodyPr wrap="square" lIns="0" tIns="0" rIns="0" bIns="0" rtlCol="0" anchor="ctr"/>
          <a:lstStyle/>
          <a:p>
            <a:pPr marL="0" indent="0">
              <a:buNone/>
            </a:pPr>
            <a:r>
              <a:rPr lang="en-US" sz="1200" b="1" kern="0" spc="300" dirty="0">
                <a:solidFill>
                  <a:srgbClr val="17B39B"/>
                </a:solidFill>
                <a:latin typeface="Calibri" pitchFamily="34" charset="0"/>
                <a:ea typeface="Calibri" pitchFamily="34" charset="-122"/>
                <a:cs typeface="Calibri" pitchFamily="34" charset="-120"/>
              </a:rPr>
              <a:t>A NOTE IN ACTION</a:t>
            </a:r>
            <a:endParaRPr lang="en-US" sz="1200" dirty="0"/>
          </a:p>
        </p:txBody>
      </p:sp>
      <p:sp>
        <p:nvSpPr>
          <p:cNvPr id="21" name="Text 19"/>
          <p:cNvSpPr/>
          <p:nvPr/>
        </p:nvSpPr>
        <p:spPr>
          <a:xfrm>
            <a:off x="7360920" y="2606040"/>
            <a:ext cx="3870655" cy="640080"/>
          </a:xfrm>
          <a:prstGeom prst="rect">
            <a:avLst/>
          </a:prstGeom>
          <a:noFill/>
          <a:ln/>
        </p:spPr>
        <p:txBody>
          <a:bodyPr wrap="square" lIns="0" tIns="0" rIns="0" bIns="0" rtlCol="0" anchor="ctr"/>
          <a:lstStyle/>
          <a:p>
            <a:pPr marL="0" indent="0">
              <a:buNone/>
            </a:pPr>
            <a:r>
              <a:rPr lang="en-US" sz="1600" b="1" i="1" dirty="0">
                <a:solidFill>
                  <a:srgbClr val="FFFFFF"/>
                </a:solidFill>
                <a:latin typeface="Calibri" pitchFamily="34" charset="0"/>
                <a:ea typeface="Calibri" pitchFamily="34" charset="-122"/>
                <a:cs typeface="Calibri" pitchFamily="34" charset="-120"/>
              </a:rPr>
              <a:t>“Can I pass qsiprep a recon_spec.yaml?”</a:t>
            </a:r>
            <a:endParaRPr lang="en-US" sz="1600" dirty="0"/>
          </a:p>
        </p:txBody>
      </p:sp>
      <p:sp>
        <p:nvSpPr>
          <p:cNvPr id="22" name="Shape 20"/>
          <p:cNvSpPr/>
          <p:nvPr/>
        </p:nvSpPr>
        <p:spPr>
          <a:xfrm>
            <a:off x="7406640" y="3429000"/>
            <a:ext cx="3779215" cy="0"/>
          </a:xfrm>
          <a:prstGeom prst="line">
            <a:avLst/>
          </a:prstGeom>
          <a:noFill/>
          <a:ln w="12700">
            <a:solidFill>
              <a:srgbClr val="0A5A62"/>
            </a:solidFill>
            <a:prstDash val="solid"/>
          </a:ln>
        </p:spPr>
        <p:txBody>
          <a:bodyPr/>
          <a:lstStyle/>
          <a:p>
            <a:endParaRPr lang="en-US"/>
          </a:p>
        </p:txBody>
      </p:sp>
      <p:sp>
        <p:nvSpPr>
          <p:cNvPr id="23" name="Text 21"/>
          <p:cNvSpPr/>
          <p:nvPr/>
        </p:nvSpPr>
        <p:spPr>
          <a:xfrm>
            <a:off x="7360920" y="3566160"/>
            <a:ext cx="3870655" cy="1920240"/>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Without the note:  </a:t>
            </a:r>
            <a:endParaRPr lang="en-US" sz="1350" dirty="0"/>
          </a:p>
          <a:p>
            <a:pPr marL="0" indent="0">
              <a:buNone/>
            </a:pPr>
            <a:r>
              <a:rPr lang="en-US" sz="1350" dirty="0">
                <a:solidFill>
                  <a:srgbClr val="EEF5F6"/>
                </a:solidFill>
                <a:latin typeface="Calibri" pitchFamily="34" charset="0"/>
                <a:ea typeface="Calibri" pitchFamily="34" charset="-122"/>
                <a:cs typeface="Calibri" pitchFamily="34" charset="-120"/>
              </a:rPr>
              <a:t>model wrongly says yes (they used to be one tool).</a:t>
            </a:r>
            <a:endParaRPr lang="en-US" sz="135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17B39B"/>
                </a:solidFill>
                <a:latin typeface="Calibri" pitchFamily="34" charset="0"/>
                <a:ea typeface="Calibri" pitchFamily="34" charset="-122"/>
                <a:cs typeface="Calibri" pitchFamily="34" charset="-120"/>
              </a:rPr>
              <a:t>With the note:  </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“No — reconstruction moved to qsirecon,” and it cites the real threads.</a:t>
            </a:r>
            <a:endParaRPr lang="en-US" sz="1350" dirty="0"/>
          </a:p>
        </p:txBody>
      </p:sp>
      <p:sp>
        <p:nvSpPr>
          <p:cNvPr id="24" name="Text 22"/>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25" name="Text 23"/>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E8A33D"/>
                </a:solidFill>
                <a:latin typeface="Calibri" pitchFamily="34" charset="0"/>
                <a:ea typeface="Calibri" pitchFamily="34" charset="-122"/>
                <a:cs typeface="Calibri" pitchFamily="34" charset="-120"/>
              </a:rPr>
              <a:t>THE POINT OF TODAY</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Your feedback becomes a measurable test</a:t>
            </a:r>
            <a:endParaRPr lang="en-US" sz="3400" dirty="0"/>
          </a:p>
        </p:txBody>
      </p:sp>
      <p:sp>
        <p:nvSpPr>
          <p:cNvPr id="4" name="Shape 2"/>
          <p:cNvSpPr/>
          <p:nvPr/>
        </p:nvSpPr>
        <p:spPr>
          <a:xfrm>
            <a:off x="518008" y="2148840"/>
            <a:ext cx="2542032" cy="2286000"/>
          </a:xfrm>
          <a:prstGeom prst="roundRect">
            <a:avLst>
              <a:gd name="adj" fmla="val 4000"/>
            </a:avLst>
          </a:prstGeom>
          <a:solidFill>
            <a:srgbClr val="FBF1E0"/>
          </a:solidFill>
          <a:ln w="19050">
            <a:solidFill>
              <a:srgbClr val="E8A33D"/>
            </a:solidFill>
            <a:prstDash val="solid"/>
          </a:ln>
          <a:effectLst>
            <a:outerShdw blurRad="114300" dist="38100" dir="5400000" algn="bl" rotWithShape="0">
              <a:srgbClr val="0A2530">
                <a:alpha val="16000"/>
              </a:srgbClr>
            </a:outerShdw>
          </a:effectLst>
        </p:spPr>
        <p:txBody>
          <a:bodyPr/>
          <a:lstStyle/>
          <a:p>
            <a:endParaRPr lang="en-US"/>
          </a:p>
        </p:txBody>
      </p:sp>
      <p:sp>
        <p:nvSpPr>
          <p:cNvPr id="5" name="Shape 3"/>
          <p:cNvSpPr/>
          <p:nvPr/>
        </p:nvSpPr>
        <p:spPr>
          <a:xfrm>
            <a:off x="774040" y="2404872"/>
            <a:ext cx="457200" cy="457200"/>
          </a:xfrm>
          <a:prstGeom prst="ellipse">
            <a:avLst/>
          </a:prstGeom>
          <a:solidFill>
            <a:srgbClr val="E8A33D"/>
          </a:solidFill>
          <a:ln/>
        </p:spPr>
        <p:txBody>
          <a:bodyPr/>
          <a:lstStyle/>
          <a:p>
            <a:endParaRPr lang="en-US"/>
          </a:p>
        </p:txBody>
      </p:sp>
      <p:sp>
        <p:nvSpPr>
          <p:cNvPr id="6" name="Text 4"/>
          <p:cNvSpPr/>
          <p:nvPr/>
        </p:nvSpPr>
        <p:spPr>
          <a:xfrm>
            <a:off x="774040" y="240487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340968" y="2423160"/>
            <a:ext cx="1627632" cy="411480"/>
          </a:xfrm>
          <a:prstGeom prst="rect">
            <a:avLst/>
          </a:prstGeom>
          <a:noFill/>
          <a:ln/>
        </p:spPr>
        <p:txBody>
          <a:bodyPr wrap="square" lIns="0" tIns="0" rIns="0" bIns="0" rtlCol="0" anchor="ctr"/>
          <a:lstStyle/>
          <a:p>
            <a:pPr marL="0" indent="0">
              <a:buNone/>
            </a:pPr>
            <a:r>
              <a:rPr lang="en-US" sz="1800" b="1" dirty="0">
                <a:solidFill>
                  <a:srgbClr val="17323B"/>
                </a:solidFill>
                <a:latin typeface="Cambria" pitchFamily="34" charset="0"/>
                <a:ea typeface="Cambria" pitchFamily="34" charset="-122"/>
                <a:cs typeface="Cambria" pitchFamily="34" charset="-120"/>
              </a:rPr>
              <a:t>Rate</a:t>
            </a:r>
            <a:endParaRPr lang="en-US" sz="1800" dirty="0"/>
          </a:p>
        </p:txBody>
      </p:sp>
      <p:sp>
        <p:nvSpPr>
          <p:cNvPr id="8" name="Text 6"/>
          <p:cNvSpPr/>
          <p:nvPr/>
        </p:nvSpPr>
        <p:spPr>
          <a:xfrm>
            <a:off x="792328" y="3017520"/>
            <a:ext cx="2039112" cy="1280160"/>
          </a:xfrm>
          <a:prstGeom prst="rect">
            <a:avLst/>
          </a:prstGeom>
          <a:noFill/>
          <a:ln/>
        </p:spPr>
        <p:txBody>
          <a:bodyPr wrap="square" lIns="0" tIns="0" rIns="0" bIns="0" rtlCol="0" anchor="ctr"/>
          <a:lstStyle/>
          <a:p>
            <a:pPr marL="0" indent="0">
              <a:buNone/>
            </a:pPr>
            <a:r>
              <a:rPr lang="en-US" sz="1250" dirty="0">
                <a:solidFill>
                  <a:srgbClr val="5F777F"/>
                </a:solidFill>
                <a:latin typeface="Calibri" pitchFamily="34" charset="0"/>
                <a:ea typeface="Calibri" pitchFamily="34" charset="-122"/>
                <a:cs typeface="Calibri" pitchFamily="34" charset="-120"/>
              </a:rPr>
              <a:t>Thumbs · problem category · the correct source URL when you know it.</a:t>
            </a:r>
            <a:endParaRPr lang="en-US" sz="1250" dirty="0"/>
          </a:p>
        </p:txBody>
      </p:sp>
      <p:sp>
        <p:nvSpPr>
          <p:cNvPr id="9" name="Shape 7"/>
          <p:cNvSpPr/>
          <p:nvPr/>
        </p:nvSpPr>
        <p:spPr>
          <a:xfrm>
            <a:off x="3087472" y="3246120"/>
            <a:ext cx="274320" cy="0"/>
          </a:xfrm>
          <a:prstGeom prst="line">
            <a:avLst/>
          </a:prstGeom>
          <a:noFill/>
          <a:ln w="25400">
            <a:solidFill>
              <a:srgbClr val="0E7C86"/>
            </a:solidFill>
            <a:prstDash val="solid"/>
            <a:tailEnd type="triangle"/>
          </a:ln>
        </p:spPr>
        <p:txBody>
          <a:bodyPr/>
          <a:lstStyle/>
          <a:p>
            <a:endParaRPr lang="en-US"/>
          </a:p>
        </p:txBody>
      </p:sp>
      <p:sp>
        <p:nvSpPr>
          <p:cNvPr id="10" name="Shape 8"/>
          <p:cNvSpPr/>
          <p:nvPr/>
        </p:nvSpPr>
        <p:spPr>
          <a:xfrm>
            <a:off x="3389224" y="2148840"/>
            <a:ext cx="2542032" cy="2286000"/>
          </a:xfrm>
          <a:prstGeom prst="roundRect">
            <a:avLst>
              <a:gd name="adj" fmla="val 4000"/>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1" name="Shape 9"/>
          <p:cNvSpPr/>
          <p:nvPr/>
        </p:nvSpPr>
        <p:spPr>
          <a:xfrm>
            <a:off x="3645256" y="2404872"/>
            <a:ext cx="457200" cy="457200"/>
          </a:xfrm>
          <a:prstGeom prst="ellipse">
            <a:avLst/>
          </a:prstGeom>
          <a:solidFill>
            <a:srgbClr val="0E7C86"/>
          </a:solidFill>
          <a:ln/>
        </p:spPr>
        <p:txBody>
          <a:bodyPr/>
          <a:lstStyle/>
          <a:p>
            <a:endParaRPr lang="en-US"/>
          </a:p>
        </p:txBody>
      </p:sp>
      <p:sp>
        <p:nvSpPr>
          <p:cNvPr id="12" name="Text 10"/>
          <p:cNvSpPr/>
          <p:nvPr/>
        </p:nvSpPr>
        <p:spPr>
          <a:xfrm>
            <a:off x="3645256" y="240487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4212184" y="2423160"/>
            <a:ext cx="1627632" cy="411480"/>
          </a:xfrm>
          <a:prstGeom prst="rect">
            <a:avLst/>
          </a:prstGeom>
          <a:noFill/>
          <a:ln/>
        </p:spPr>
        <p:txBody>
          <a:bodyPr wrap="square" lIns="0" tIns="0" rIns="0" bIns="0" rtlCol="0" anchor="ctr"/>
          <a:lstStyle/>
          <a:p>
            <a:pPr marL="0" indent="0">
              <a:buNone/>
            </a:pPr>
            <a:r>
              <a:rPr lang="en-US" sz="1800" b="1" dirty="0">
                <a:solidFill>
                  <a:srgbClr val="17323B"/>
                </a:solidFill>
                <a:latin typeface="Cambria" pitchFamily="34" charset="0"/>
                <a:ea typeface="Cambria" pitchFamily="34" charset="-122"/>
                <a:cs typeface="Cambria" pitchFamily="34" charset="-120"/>
              </a:rPr>
              <a:t>Aggregate</a:t>
            </a:r>
            <a:endParaRPr lang="en-US" sz="1800" dirty="0"/>
          </a:p>
        </p:txBody>
      </p:sp>
      <p:sp>
        <p:nvSpPr>
          <p:cNvPr id="14" name="Text 12"/>
          <p:cNvSpPr/>
          <p:nvPr/>
        </p:nvSpPr>
        <p:spPr>
          <a:xfrm>
            <a:off x="3663544" y="3017520"/>
            <a:ext cx="2039112" cy="1280160"/>
          </a:xfrm>
          <a:prstGeom prst="rect">
            <a:avLst/>
          </a:prstGeom>
          <a:noFill/>
          <a:ln/>
        </p:spPr>
        <p:txBody>
          <a:bodyPr wrap="square" lIns="0" tIns="0" rIns="0" bIns="0" rtlCol="0" anchor="ctr"/>
          <a:lstStyle/>
          <a:p>
            <a:pPr marL="0" indent="0">
              <a:buNone/>
            </a:pPr>
            <a:r>
              <a:rPr lang="en-US" sz="1250" dirty="0">
                <a:solidFill>
                  <a:srgbClr val="5F777F"/>
                </a:solidFill>
                <a:latin typeface="Calibri" pitchFamily="34" charset="0"/>
                <a:ea typeface="Calibri" pitchFamily="34" charset="-122"/>
                <a:cs typeface="Calibri" pitchFamily="34" charset="-120"/>
              </a:rPr>
              <a:t>A scorecard: up-rate by app, by path, by model — where is it weak?</a:t>
            </a:r>
            <a:endParaRPr lang="en-US" sz="1250" dirty="0"/>
          </a:p>
        </p:txBody>
      </p:sp>
      <p:sp>
        <p:nvSpPr>
          <p:cNvPr id="15" name="Shape 13"/>
          <p:cNvSpPr/>
          <p:nvPr/>
        </p:nvSpPr>
        <p:spPr>
          <a:xfrm>
            <a:off x="5958688" y="3246120"/>
            <a:ext cx="274320" cy="0"/>
          </a:xfrm>
          <a:prstGeom prst="line">
            <a:avLst/>
          </a:prstGeom>
          <a:noFill/>
          <a:ln w="25400">
            <a:solidFill>
              <a:srgbClr val="0E7C86"/>
            </a:solidFill>
            <a:prstDash val="solid"/>
            <a:tailEnd type="triangle"/>
          </a:ln>
        </p:spPr>
        <p:txBody>
          <a:bodyPr/>
          <a:lstStyle/>
          <a:p>
            <a:endParaRPr lang="en-US"/>
          </a:p>
        </p:txBody>
      </p:sp>
      <p:sp>
        <p:nvSpPr>
          <p:cNvPr id="16" name="Shape 14"/>
          <p:cNvSpPr/>
          <p:nvPr/>
        </p:nvSpPr>
        <p:spPr>
          <a:xfrm>
            <a:off x="6260440" y="2148840"/>
            <a:ext cx="2542032" cy="2286000"/>
          </a:xfrm>
          <a:prstGeom prst="roundRect">
            <a:avLst>
              <a:gd name="adj" fmla="val 4000"/>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7" name="Shape 15"/>
          <p:cNvSpPr/>
          <p:nvPr/>
        </p:nvSpPr>
        <p:spPr>
          <a:xfrm>
            <a:off x="6516472" y="2404872"/>
            <a:ext cx="457200" cy="457200"/>
          </a:xfrm>
          <a:prstGeom prst="ellipse">
            <a:avLst/>
          </a:prstGeom>
          <a:solidFill>
            <a:srgbClr val="0E7C86"/>
          </a:solidFill>
          <a:ln/>
        </p:spPr>
        <p:txBody>
          <a:bodyPr/>
          <a:lstStyle/>
          <a:p>
            <a:endParaRPr lang="en-US"/>
          </a:p>
        </p:txBody>
      </p:sp>
      <p:sp>
        <p:nvSpPr>
          <p:cNvPr id="18" name="Text 16"/>
          <p:cNvSpPr/>
          <p:nvPr/>
        </p:nvSpPr>
        <p:spPr>
          <a:xfrm>
            <a:off x="6516472" y="240487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7083400" y="2423160"/>
            <a:ext cx="1627632" cy="411480"/>
          </a:xfrm>
          <a:prstGeom prst="rect">
            <a:avLst/>
          </a:prstGeom>
          <a:noFill/>
          <a:ln/>
        </p:spPr>
        <p:txBody>
          <a:bodyPr wrap="square" lIns="0" tIns="0" rIns="0" bIns="0" rtlCol="0" anchor="ctr"/>
          <a:lstStyle/>
          <a:p>
            <a:pPr marL="0" indent="0">
              <a:buNone/>
            </a:pPr>
            <a:r>
              <a:rPr lang="en-US" sz="1800" b="1" dirty="0">
                <a:solidFill>
                  <a:srgbClr val="17323B"/>
                </a:solidFill>
                <a:latin typeface="Cambria" pitchFamily="34" charset="0"/>
                <a:ea typeface="Cambria" pitchFamily="34" charset="-122"/>
                <a:cs typeface="Cambria" pitchFamily="34" charset="-120"/>
              </a:rPr>
              <a:t>Promote</a:t>
            </a:r>
            <a:endParaRPr lang="en-US" sz="1800" dirty="0"/>
          </a:p>
        </p:txBody>
      </p:sp>
      <p:sp>
        <p:nvSpPr>
          <p:cNvPr id="20" name="Text 18"/>
          <p:cNvSpPr/>
          <p:nvPr/>
        </p:nvSpPr>
        <p:spPr>
          <a:xfrm>
            <a:off x="6534760" y="3017520"/>
            <a:ext cx="2039112" cy="1280160"/>
          </a:xfrm>
          <a:prstGeom prst="rect">
            <a:avLst/>
          </a:prstGeom>
          <a:noFill/>
          <a:ln/>
        </p:spPr>
        <p:txBody>
          <a:bodyPr wrap="square" lIns="0" tIns="0" rIns="0" bIns="0" rtlCol="0" anchor="ctr"/>
          <a:lstStyle/>
          <a:p>
            <a:pPr marL="0" indent="0">
              <a:buNone/>
            </a:pPr>
            <a:r>
              <a:rPr lang="en-US" sz="1250" dirty="0">
                <a:solidFill>
                  <a:srgbClr val="5F777F"/>
                </a:solidFill>
                <a:latin typeface="Calibri" pitchFamily="34" charset="0"/>
                <a:ea typeface="Calibri" pitchFamily="34" charset="-122"/>
                <a:cs typeface="Calibri" pitchFamily="34" charset="-120"/>
              </a:rPr>
              <a:t>Each flagged failure becomes a case in a regression set.</a:t>
            </a:r>
            <a:endParaRPr lang="en-US" sz="1250" dirty="0"/>
          </a:p>
        </p:txBody>
      </p:sp>
      <p:sp>
        <p:nvSpPr>
          <p:cNvPr id="21" name="Shape 19"/>
          <p:cNvSpPr/>
          <p:nvPr/>
        </p:nvSpPr>
        <p:spPr>
          <a:xfrm>
            <a:off x="8829904" y="3246120"/>
            <a:ext cx="274320" cy="0"/>
          </a:xfrm>
          <a:prstGeom prst="line">
            <a:avLst/>
          </a:prstGeom>
          <a:noFill/>
          <a:ln w="25400">
            <a:solidFill>
              <a:srgbClr val="0E7C86"/>
            </a:solidFill>
            <a:prstDash val="solid"/>
            <a:tailEnd type="triangle"/>
          </a:ln>
        </p:spPr>
        <p:txBody>
          <a:bodyPr/>
          <a:lstStyle/>
          <a:p>
            <a:endParaRPr lang="en-US"/>
          </a:p>
        </p:txBody>
      </p:sp>
      <p:sp>
        <p:nvSpPr>
          <p:cNvPr id="22" name="Shape 20"/>
          <p:cNvSpPr/>
          <p:nvPr/>
        </p:nvSpPr>
        <p:spPr>
          <a:xfrm>
            <a:off x="9131656" y="2148840"/>
            <a:ext cx="2542032" cy="2286000"/>
          </a:xfrm>
          <a:prstGeom prst="roundRect">
            <a:avLst>
              <a:gd name="adj" fmla="val 4000"/>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23" name="Shape 21"/>
          <p:cNvSpPr/>
          <p:nvPr/>
        </p:nvSpPr>
        <p:spPr>
          <a:xfrm>
            <a:off x="9387688" y="2404872"/>
            <a:ext cx="457200" cy="457200"/>
          </a:xfrm>
          <a:prstGeom prst="ellipse">
            <a:avLst/>
          </a:prstGeom>
          <a:solidFill>
            <a:srgbClr val="0E7C86"/>
          </a:solidFill>
          <a:ln/>
        </p:spPr>
        <p:txBody>
          <a:bodyPr/>
          <a:lstStyle/>
          <a:p>
            <a:endParaRPr lang="en-US"/>
          </a:p>
        </p:txBody>
      </p:sp>
      <p:sp>
        <p:nvSpPr>
          <p:cNvPr id="24" name="Text 22"/>
          <p:cNvSpPr/>
          <p:nvPr/>
        </p:nvSpPr>
        <p:spPr>
          <a:xfrm>
            <a:off x="9387688" y="240487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5" name="Text 23"/>
          <p:cNvSpPr/>
          <p:nvPr/>
        </p:nvSpPr>
        <p:spPr>
          <a:xfrm>
            <a:off x="9954616" y="2423160"/>
            <a:ext cx="1627632" cy="411480"/>
          </a:xfrm>
          <a:prstGeom prst="rect">
            <a:avLst/>
          </a:prstGeom>
          <a:noFill/>
          <a:ln/>
        </p:spPr>
        <p:txBody>
          <a:bodyPr wrap="square" lIns="0" tIns="0" rIns="0" bIns="0" rtlCol="0" anchor="ctr"/>
          <a:lstStyle/>
          <a:p>
            <a:pPr marL="0" indent="0">
              <a:buNone/>
            </a:pPr>
            <a:r>
              <a:rPr lang="en-US" sz="1800" b="1" dirty="0">
                <a:solidFill>
                  <a:srgbClr val="17323B"/>
                </a:solidFill>
                <a:latin typeface="Cambria" pitchFamily="34" charset="0"/>
                <a:ea typeface="Cambria" pitchFamily="34" charset="-122"/>
                <a:cs typeface="Cambria" pitchFamily="34" charset="-120"/>
              </a:rPr>
              <a:t>Gate</a:t>
            </a:r>
            <a:endParaRPr lang="en-US" sz="1800" dirty="0"/>
          </a:p>
        </p:txBody>
      </p:sp>
      <p:sp>
        <p:nvSpPr>
          <p:cNvPr id="26" name="Text 24"/>
          <p:cNvSpPr/>
          <p:nvPr/>
        </p:nvSpPr>
        <p:spPr>
          <a:xfrm>
            <a:off x="9405976" y="3017520"/>
            <a:ext cx="2039112" cy="1280160"/>
          </a:xfrm>
          <a:prstGeom prst="rect">
            <a:avLst/>
          </a:prstGeom>
          <a:noFill/>
          <a:ln/>
        </p:spPr>
        <p:txBody>
          <a:bodyPr wrap="square" lIns="0" tIns="0" rIns="0" bIns="0" rtlCol="0" anchor="ctr"/>
          <a:lstStyle/>
          <a:p>
            <a:pPr marL="0" indent="0">
              <a:buNone/>
            </a:pPr>
            <a:r>
              <a:rPr lang="en-US" sz="1250" dirty="0">
                <a:solidFill>
                  <a:srgbClr val="5F777F"/>
                </a:solidFill>
                <a:latin typeface="Calibri" pitchFamily="34" charset="0"/>
                <a:ea typeface="Calibri" pitchFamily="34" charset="-122"/>
                <a:cs typeface="Calibri" pitchFamily="34" charset="-120"/>
              </a:rPr>
              <a:t>Re-run the eval after any change: fixes must land without breaking others.</a:t>
            </a:r>
            <a:endParaRPr lang="en-US" sz="1250" dirty="0"/>
          </a:p>
        </p:txBody>
      </p:sp>
      <p:sp>
        <p:nvSpPr>
          <p:cNvPr id="27" name="Shape 25"/>
          <p:cNvSpPr/>
          <p:nvPr/>
        </p:nvSpPr>
        <p:spPr>
          <a:xfrm>
            <a:off x="640080" y="4983480"/>
            <a:ext cx="10911535" cy="1051560"/>
          </a:xfrm>
          <a:prstGeom prst="roundRect">
            <a:avLst>
              <a:gd name="adj" fmla="val 7826"/>
            </a:avLst>
          </a:prstGeom>
          <a:solidFill>
            <a:srgbClr val="0F2E3D"/>
          </a:solidFill>
          <a:ln/>
          <a:effectLst>
            <a:outerShdw blurRad="114300" dist="38100" dir="5400000" algn="bl" rotWithShape="0">
              <a:srgbClr val="0A2530">
                <a:alpha val="16000"/>
              </a:srgbClr>
            </a:outerShdw>
          </a:effectLst>
        </p:spPr>
        <p:txBody>
          <a:bodyPr/>
          <a:lstStyle/>
          <a:p>
            <a:endParaRPr lang="en-US"/>
          </a:p>
        </p:txBody>
      </p:sp>
      <p:sp>
        <p:nvSpPr>
          <p:cNvPr id="28" name="Text 26"/>
          <p:cNvSpPr/>
          <p:nvPr/>
        </p:nvSpPr>
        <p:spPr>
          <a:xfrm>
            <a:off x="1005840" y="5120640"/>
            <a:ext cx="10180015" cy="777240"/>
          </a:xfrm>
          <a:prstGeom prst="rect">
            <a:avLst/>
          </a:prstGeom>
          <a:noFill/>
          <a:ln/>
        </p:spPr>
        <p:txBody>
          <a:bodyPr wrap="square" lIns="0" tIns="0" rIns="0" bIns="0"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The correct URL is the gold: </a:t>
            </a:r>
            <a:r>
              <a:rPr lang="en-US" sz="1500" dirty="0">
                <a:solidFill>
                  <a:srgbClr val="EEF5F6"/>
                </a:solidFill>
                <a:latin typeface="Calibri" pitchFamily="34" charset="0"/>
                <a:ea typeface="Calibri" pitchFamily="34" charset="-122"/>
                <a:cs typeface="Calibri" pitchFamily="34" charset="-120"/>
              </a:rPr>
              <a:t>it turns your correction into a permanent, re-runnable retrieval test — maintainer-verified truth, not a one-off gripe.</a:t>
            </a:r>
            <a:endParaRPr lang="en-US" sz="1500" dirty="0"/>
          </a:p>
        </p:txBody>
      </p:sp>
      <p:sp>
        <p:nvSpPr>
          <p:cNvPr id="29" name="Text 27"/>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30" name="Text 28"/>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E3D"/>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marL="0" indent="0">
              <a:buNone/>
            </a:pPr>
            <a:r>
              <a:rPr lang="en-US" sz="1200" b="1" kern="0" spc="300" dirty="0">
                <a:solidFill>
                  <a:srgbClr val="17B39B"/>
                </a:solidFill>
                <a:latin typeface="Calibri" pitchFamily="34" charset="0"/>
                <a:ea typeface="Calibri" pitchFamily="34" charset="-122"/>
                <a:cs typeface="Calibri" pitchFamily="34" charset="-120"/>
              </a:rPr>
              <a:t>DOES IT ACTUALLY WORK?</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100" b="1" dirty="0">
                <a:solidFill>
                  <a:srgbClr val="FFFFFF"/>
                </a:solidFill>
                <a:latin typeface="Cambria" pitchFamily="34" charset="0"/>
                <a:ea typeface="Cambria" pitchFamily="34" charset="-122"/>
                <a:cs typeface="Cambria" pitchFamily="34" charset="-120"/>
              </a:rPr>
              <a:t>Retrieval, measured on 48 held-out solved cases</a:t>
            </a:r>
            <a:endParaRPr lang="en-US" sz="3100" dirty="0"/>
          </a:p>
        </p:txBody>
      </p:sp>
      <p:sp>
        <p:nvSpPr>
          <p:cNvPr id="4" name="Shape 2"/>
          <p:cNvSpPr/>
          <p:nvPr/>
        </p:nvSpPr>
        <p:spPr>
          <a:xfrm>
            <a:off x="1112368" y="2286000"/>
            <a:ext cx="3017520" cy="2103120"/>
          </a:xfrm>
          <a:prstGeom prst="roundRect">
            <a:avLst>
              <a:gd name="adj" fmla="val 4348"/>
            </a:avLst>
          </a:prstGeom>
          <a:solidFill>
            <a:srgbClr val="13424F"/>
          </a:solidFill>
          <a:ln w="22225">
            <a:solidFill>
              <a:srgbClr val="E8A33D"/>
            </a:solidFill>
            <a:prstDash val="solid"/>
          </a:ln>
        </p:spPr>
        <p:txBody>
          <a:bodyPr/>
          <a:lstStyle/>
          <a:p>
            <a:endParaRPr lang="en-US"/>
          </a:p>
        </p:txBody>
      </p:sp>
      <p:sp>
        <p:nvSpPr>
          <p:cNvPr id="5" name="Text 3"/>
          <p:cNvSpPr/>
          <p:nvPr/>
        </p:nvSpPr>
        <p:spPr>
          <a:xfrm>
            <a:off x="1112368" y="2606040"/>
            <a:ext cx="3017520" cy="914400"/>
          </a:xfrm>
          <a:prstGeom prst="rect">
            <a:avLst/>
          </a:prstGeom>
          <a:noFill/>
          <a:ln/>
        </p:spPr>
        <p:txBody>
          <a:bodyPr wrap="square" lIns="0" tIns="0" rIns="0" bIns="0" rtlCol="0" anchor="ctr"/>
          <a:lstStyle/>
          <a:p>
            <a:pPr marL="0" indent="0" algn="ctr">
              <a:buNone/>
            </a:pPr>
            <a:r>
              <a:rPr lang="en-US" sz="5400" b="1" dirty="0">
                <a:solidFill>
                  <a:srgbClr val="E8A33D"/>
                </a:solidFill>
                <a:latin typeface="Cambria" pitchFamily="34" charset="0"/>
                <a:ea typeface="Cambria" pitchFamily="34" charset="-122"/>
                <a:cs typeface="Cambria" pitchFamily="34" charset="-120"/>
              </a:rPr>
              <a:t>0.97</a:t>
            </a:r>
            <a:endParaRPr lang="en-US" sz="5400" dirty="0"/>
          </a:p>
        </p:txBody>
      </p:sp>
      <p:sp>
        <p:nvSpPr>
          <p:cNvPr id="6" name="Text 4"/>
          <p:cNvSpPr/>
          <p:nvPr/>
        </p:nvSpPr>
        <p:spPr>
          <a:xfrm>
            <a:off x="1112368" y="3657600"/>
            <a:ext cx="301752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Hybrid (fused)</a:t>
            </a:r>
            <a:endParaRPr lang="en-US" sz="1600" dirty="0"/>
          </a:p>
        </p:txBody>
      </p:sp>
      <p:sp>
        <p:nvSpPr>
          <p:cNvPr id="7" name="Shape 5"/>
          <p:cNvSpPr/>
          <p:nvPr/>
        </p:nvSpPr>
        <p:spPr>
          <a:xfrm>
            <a:off x="4587088" y="2286000"/>
            <a:ext cx="3017520" cy="2103120"/>
          </a:xfrm>
          <a:prstGeom prst="roundRect">
            <a:avLst>
              <a:gd name="adj" fmla="val 4348"/>
            </a:avLst>
          </a:prstGeom>
          <a:solidFill>
            <a:srgbClr val="0B2531"/>
          </a:solidFill>
          <a:ln w="12700">
            <a:solidFill>
              <a:srgbClr val="0A5A62"/>
            </a:solidFill>
            <a:prstDash val="solid"/>
          </a:ln>
        </p:spPr>
        <p:txBody>
          <a:bodyPr/>
          <a:lstStyle/>
          <a:p>
            <a:endParaRPr lang="en-US"/>
          </a:p>
        </p:txBody>
      </p:sp>
      <p:sp>
        <p:nvSpPr>
          <p:cNvPr id="8" name="Text 6"/>
          <p:cNvSpPr/>
          <p:nvPr/>
        </p:nvSpPr>
        <p:spPr>
          <a:xfrm>
            <a:off x="4587088" y="2606040"/>
            <a:ext cx="3017520" cy="914400"/>
          </a:xfrm>
          <a:prstGeom prst="rect">
            <a:avLst/>
          </a:prstGeom>
          <a:noFill/>
          <a:ln/>
        </p:spPr>
        <p:txBody>
          <a:bodyPr wrap="square" lIns="0" tIns="0" rIns="0" bIns="0" rtlCol="0" anchor="ctr"/>
          <a:lstStyle/>
          <a:p>
            <a:pPr marL="0" indent="0" algn="ctr">
              <a:buNone/>
            </a:pPr>
            <a:r>
              <a:rPr lang="en-US" sz="5400" b="1" dirty="0">
                <a:solidFill>
                  <a:srgbClr val="8AA6AE"/>
                </a:solidFill>
                <a:latin typeface="Cambria" pitchFamily="34" charset="0"/>
                <a:ea typeface="Cambria" pitchFamily="34" charset="-122"/>
                <a:cs typeface="Cambria" pitchFamily="34" charset="-120"/>
              </a:rPr>
              <a:t>0.41</a:t>
            </a:r>
            <a:endParaRPr lang="en-US" sz="5400" dirty="0"/>
          </a:p>
        </p:txBody>
      </p:sp>
      <p:sp>
        <p:nvSpPr>
          <p:cNvPr id="9" name="Text 7"/>
          <p:cNvSpPr/>
          <p:nvPr/>
        </p:nvSpPr>
        <p:spPr>
          <a:xfrm>
            <a:off x="4587088" y="3657600"/>
            <a:ext cx="3017520" cy="411480"/>
          </a:xfrm>
          <a:prstGeom prst="rect">
            <a:avLst/>
          </a:prstGeom>
          <a:noFill/>
          <a:ln/>
        </p:spPr>
        <p:txBody>
          <a:bodyPr wrap="square" lIns="0" tIns="0" rIns="0" bIns="0" rtlCol="0" anchor="ctr"/>
          <a:lstStyle/>
          <a:p>
            <a:pPr marL="0" indent="0" algn="ctr">
              <a:buNone/>
            </a:pPr>
            <a:r>
              <a:rPr lang="en-US" sz="1600" dirty="0">
                <a:solidFill>
                  <a:srgbClr val="EEF5F6"/>
                </a:solidFill>
                <a:latin typeface="Calibri" pitchFamily="34" charset="0"/>
                <a:ea typeface="Calibri" pitchFamily="34" charset="-122"/>
                <a:cs typeface="Calibri" pitchFamily="34" charset="-120"/>
              </a:rPr>
              <a:t>Meaning only</a:t>
            </a:r>
            <a:endParaRPr lang="en-US" sz="1600" dirty="0"/>
          </a:p>
        </p:txBody>
      </p:sp>
      <p:sp>
        <p:nvSpPr>
          <p:cNvPr id="10" name="Shape 8"/>
          <p:cNvSpPr/>
          <p:nvPr/>
        </p:nvSpPr>
        <p:spPr>
          <a:xfrm>
            <a:off x="8061808" y="2286000"/>
            <a:ext cx="3017520" cy="2103120"/>
          </a:xfrm>
          <a:prstGeom prst="roundRect">
            <a:avLst>
              <a:gd name="adj" fmla="val 4348"/>
            </a:avLst>
          </a:prstGeom>
          <a:solidFill>
            <a:srgbClr val="0B2531"/>
          </a:solidFill>
          <a:ln w="12700">
            <a:solidFill>
              <a:srgbClr val="0A5A62"/>
            </a:solidFill>
            <a:prstDash val="solid"/>
          </a:ln>
        </p:spPr>
        <p:txBody>
          <a:bodyPr/>
          <a:lstStyle/>
          <a:p>
            <a:endParaRPr lang="en-US"/>
          </a:p>
        </p:txBody>
      </p:sp>
      <p:sp>
        <p:nvSpPr>
          <p:cNvPr id="11" name="Text 9"/>
          <p:cNvSpPr/>
          <p:nvPr/>
        </p:nvSpPr>
        <p:spPr>
          <a:xfrm>
            <a:off x="8061808" y="2606040"/>
            <a:ext cx="3017520" cy="914400"/>
          </a:xfrm>
          <a:prstGeom prst="rect">
            <a:avLst/>
          </a:prstGeom>
          <a:noFill/>
          <a:ln/>
        </p:spPr>
        <p:txBody>
          <a:bodyPr wrap="square" lIns="0" tIns="0" rIns="0" bIns="0" rtlCol="0" anchor="ctr"/>
          <a:lstStyle/>
          <a:p>
            <a:pPr marL="0" indent="0" algn="ctr">
              <a:buNone/>
            </a:pPr>
            <a:r>
              <a:rPr lang="en-US" sz="5400" b="1" dirty="0">
                <a:solidFill>
                  <a:srgbClr val="8AA6AE"/>
                </a:solidFill>
                <a:latin typeface="Cambria" pitchFamily="34" charset="0"/>
                <a:ea typeface="Cambria" pitchFamily="34" charset="-122"/>
                <a:cs typeface="Cambria" pitchFamily="34" charset="-120"/>
              </a:rPr>
              <a:t>0.38</a:t>
            </a:r>
            <a:endParaRPr lang="en-US" sz="5400" dirty="0"/>
          </a:p>
        </p:txBody>
      </p:sp>
      <p:sp>
        <p:nvSpPr>
          <p:cNvPr id="12" name="Text 10"/>
          <p:cNvSpPr/>
          <p:nvPr/>
        </p:nvSpPr>
        <p:spPr>
          <a:xfrm>
            <a:off x="8061808" y="3657600"/>
            <a:ext cx="3017520" cy="411480"/>
          </a:xfrm>
          <a:prstGeom prst="rect">
            <a:avLst/>
          </a:prstGeom>
          <a:noFill/>
          <a:ln/>
        </p:spPr>
        <p:txBody>
          <a:bodyPr wrap="square" lIns="0" tIns="0" rIns="0" bIns="0" rtlCol="0" anchor="ctr"/>
          <a:lstStyle/>
          <a:p>
            <a:pPr marL="0" indent="0" algn="ctr">
              <a:buNone/>
            </a:pPr>
            <a:r>
              <a:rPr lang="en-US" sz="1600" dirty="0">
                <a:solidFill>
                  <a:srgbClr val="EEF5F6"/>
                </a:solidFill>
                <a:latin typeface="Calibri" pitchFamily="34" charset="0"/>
                <a:ea typeface="Calibri" pitchFamily="34" charset="-122"/>
                <a:cs typeface="Calibri" pitchFamily="34" charset="-120"/>
              </a:rPr>
              <a:t>Keyword only</a:t>
            </a:r>
            <a:endParaRPr lang="en-US" sz="1600" dirty="0"/>
          </a:p>
        </p:txBody>
      </p:sp>
      <p:sp>
        <p:nvSpPr>
          <p:cNvPr id="13" name="Text 11"/>
          <p:cNvSpPr/>
          <p:nvPr/>
        </p:nvSpPr>
        <p:spPr>
          <a:xfrm>
            <a:off x="640080" y="4709160"/>
            <a:ext cx="10911535" cy="457200"/>
          </a:xfrm>
          <a:prstGeom prst="rect">
            <a:avLst/>
          </a:prstGeom>
          <a:noFill/>
          <a:ln/>
        </p:spPr>
        <p:txBody>
          <a:bodyPr wrap="square" lIns="0" tIns="0" rIns="0" bIns="0" rtlCol="0" anchor="ctr"/>
          <a:lstStyle/>
          <a:p>
            <a:pPr marL="0" indent="0" algn="ctr">
              <a:buNone/>
            </a:pPr>
            <a:r>
              <a:rPr lang="en-US" sz="1400" i="1" dirty="0">
                <a:solidFill>
                  <a:srgbClr val="EEF5F6"/>
                </a:solidFill>
                <a:latin typeface="Calibri" pitchFamily="34" charset="0"/>
                <a:ea typeface="Calibri" pitchFamily="34" charset="-122"/>
                <a:cs typeface="Calibri" pitchFamily="34" charset="-120"/>
              </a:rPr>
              <a:t>Mean reciprocal rank — how high the right source ranks. Fusion nearly always puts it #1; neither method alone does.</a:t>
            </a:r>
            <a:endParaRPr lang="en-US" sz="1400" dirty="0"/>
          </a:p>
        </p:txBody>
      </p:sp>
      <p:sp>
        <p:nvSpPr>
          <p:cNvPr id="14" name="Shape 12"/>
          <p:cNvSpPr/>
          <p:nvPr/>
        </p:nvSpPr>
        <p:spPr>
          <a:xfrm>
            <a:off x="640080" y="5349240"/>
            <a:ext cx="10911535" cy="868680"/>
          </a:xfrm>
          <a:prstGeom prst="roundRect">
            <a:avLst>
              <a:gd name="adj" fmla="val 9474"/>
            </a:avLst>
          </a:prstGeom>
          <a:solidFill>
            <a:srgbClr val="12414E"/>
          </a:solidFill>
          <a:ln w="12700">
            <a:solidFill>
              <a:srgbClr val="0A5A62"/>
            </a:solidFill>
            <a:prstDash val="solid"/>
          </a:ln>
        </p:spPr>
        <p:txBody>
          <a:bodyPr/>
          <a:lstStyle/>
          <a:p>
            <a:endParaRPr lang="en-US"/>
          </a:p>
        </p:txBody>
      </p:sp>
      <p:sp>
        <p:nvSpPr>
          <p:cNvPr id="15" name="Text 13"/>
          <p:cNvSpPr/>
          <p:nvPr/>
        </p:nvSpPr>
        <p:spPr>
          <a:xfrm>
            <a:off x="1005840" y="5468112"/>
            <a:ext cx="10180015" cy="640080"/>
          </a:xfrm>
          <a:prstGeom prst="rect">
            <a:avLst/>
          </a:prstGeom>
          <a:noFill/>
          <a:ln/>
        </p:spPr>
        <p:txBody>
          <a:bodyPr wrap="square" lIns="0" tIns="0" rIns="0" bIns="0"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The honest part:  </a:t>
            </a:r>
            <a:r>
              <a:rPr lang="en-US" sz="1400" dirty="0">
                <a:solidFill>
                  <a:srgbClr val="EEF5F6"/>
                </a:solidFill>
                <a:latin typeface="Calibri" pitchFamily="34" charset="0"/>
                <a:ea typeface="Calibri" pitchFamily="34" charset="-122"/>
                <a:cs typeface="Calibri" pitchFamily="34" charset="-120"/>
              </a:rPr>
              <a:t>judging whole answers automatically is still hard — which is exactly why your live, verified feedback is the real signal.</a:t>
            </a:r>
            <a:endParaRPr lang="en-US" sz="1400" dirty="0"/>
          </a:p>
        </p:txBody>
      </p:sp>
      <p:sp>
        <p:nvSpPr>
          <p:cNvPr id="16" name="Text 14"/>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17" name="Text 15"/>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200" b="1" kern="0" spc="300" dirty="0">
                <a:solidFill>
                  <a:srgbClr val="E8A33D"/>
                </a:solidFill>
                <a:latin typeface="Calibri" pitchFamily="34" charset="0"/>
                <a:ea typeface="Calibri" pitchFamily="34" charset="-122"/>
                <a:cs typeface="Calibri" pitchFamily="34" charset="-120"/>
              </a:rPr>
              <a:t>YOUR TURN — REST OF THE HOUR</a:t>
            </a:r>
            <a:endParaRPr lang="en-US" sz="1200" dirty="0"/>
          </a:p>
        </p:txBody>
      </p:sp>
      <p:sp>
        <p:nvSpPr>
          <p:cNvPr id="3" name="Text 1"/>
          <p:cNvSpPr/>
          <p:nvPr/>
        </p:nvSpPr>
        <p:spPr>
          <a:xfrm>
            <a:off x="640080" y="868680"/>
            <a:ext cx="10911535" cy="822960"/>
          </a:xfrm>
          <a:prstGeom prst="rect">
            <a:avLst/>
          </a:prstGeom>
          <a:noFill/>
          <a:ln/>
        </p:spPr>
        <p:txBody>
          <a:bodyPr wrap="square" lIns="0" tIns="0" rIns="0" bIns="0" rtlCol="0" anchor="ctr"/>
          <a:lstStyle/>
          <a:p>
            <a:pPr marL="0" indent="0" algn="l">
              <a:buNone/>
            </a:pPr>
            <a:r>
              <a:rPr lang="en-US" sz="3400" b="1" dirty="0">
                <a:solidFill>
                  <a:srgbClr val="17323B"/>
                </a:solidFill>
                <a:latin typeface="Cambria" pitchFamily="34" charset="0"/>
                <a:ea typeface="Cambria" pitchFamily="34" charset="-122"/>
                <a:cs typeface="Cambria" pitchFamily="34" charset="-120"/>
              </a:rPr>
              <a:t>Break it, and log what you find</a:t>
            </a:r>
            <a:endParaRPr lang="en-US" sz="3400" dirty="0"/>
          </a:p>
        </p:txBody>
      </p:sp>
      <p:sp>
        <p:nvSpPr>
          <p:cNvPr id="4" name="Shape 2"/>
          <p:cNvSpPr/>
          <p:nvPr/>
        </p:nvSpPr>
        <p:spPr>
          <a:xfrm>
            <a:off x="640080" y="1965960"/>
            <a:ext cx="6492240" cy="1188720"/>
          </a:xfrm>
          <a:prstGeom prst="roundRect">
            <a:avLst>
              <a:gd name="adj" fmla="val 8462"/>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5" name="Shape 3"/>
          <p:cNvSpPr/>
          <p:nvPr/>
        </p:nvSpPr>
        <p:spPr>
          <a:xfrm>
            <a:off x="950976" y="2313432"/>
            <a:ext cx="457200" cy="457200"/>
          </a:xfrm>
          <a:prstGeom prst="ellipse">
            <a:avLst/>
          </a:prstGeom>
          <a:solidFill>
            <a:srgbClr val="0E7C86"/>
          </a:solidFill>
          <a:ln/>
        </p:spPr>
        <p:txBody>
          <a:bodyPr/>
          <a:lstStyle/>
          <a:p>
            <a:endParaRPr lang="en-US"/>
          </a:p>
        </p:txBody>
      </p:sp>
      <p:sp>
        <p:nvSpPr>
          <p:cNvPr id="6" name="Text 4"/>
          <p:cNvSpPr/>
          <p:nvPr/>
        </p:nvSpPr>
        <p:spPr>
          <a:xfrm>
            <a:off x="950976" y="231343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600200" y="2148840"/>
            <a:ext cx="5303520" cy="411480"/>
          </a:xfrm>
          <a:prstGeom prst="rect">
            <a:avLst/>
          </a:prstGeom>
          <a:noFill/>
          <a:ln/>
        </p:spPr>
        <p:txBody>
          <a:bodyPr wrap="square" lIns="0" tIns="0" rIns="0" bIns="0" rtlCol="0" anchor="ctr"/>
          <a:lstStyle/>
          <a:p>
            <a:pPr marL="0" indent="0">
              <a:buNone/>
            </a:pPr>
            <a:r>
              <a:rPr lang="en-US" sz="1650" b="1" dirty="0">
                <a:solidFill>
                  <a:srgbClr val="17323B"/>
                </a:solidFill>
                <a:latin typeface="Calibri" pitchFamily="34" charset="0"/>
                <a:ea typeface="Calibri" pitchFamily="34" charset="-122"/>
                <a:cs typeface="Calibri" pitchFamily="34" charset="-120"/>
              </a:rPr>
              <a:t>Ask real questions you know the answer to</a:t>
            </a:r>
            <a:endParaRPr lang="en-US" sz="1650" dirty="0"/>
          </a:p>
        </p:txBody>
      </p:sp>
      <p:sp>
        <p:nvSpPr>
          <p:cNvPr id="8" name="Text 6"/>
          <p:cNvSpPr/>
          <p:nvPr/>
        </p:nvSpPr>
        <p:spPr>
          <a:xfrm>
            <a:off x="1600200" y="2542032"/>
            <a:ext cx="5303520" cy="457200"/>
          </a:xfrm>
          <a:prstGeom prst="rect">
            <a:avLst/>
          </a:prstGeom>
          <a:noFill/>
          <a:ln/>
        </p:spPr>
        <p:txBody>
          <a:bodyPr wrap="square" lIns="0" tIns="0" rIns="0" bIns="0" rtlCol="0" anchor="ctr"/>
          <a:lstStyle/>
          <a:p>
            <a:pPr marL="0" indent="0">
              <a:buNone/>
            </a:pPr>
            <a:r>
              <a:rPr lang="en-US" sz="1300" dirty="0">
                <a:solidFill>
                  <a:srgbClr val="5F777F"/>
                </a:solidFill>
                <a:latin typeface="Calibri" pitchFamily="34" charset="0"/>
                <a:ea typeface="Calibri" pitchFamily="34" charset="-122"/>
                <a:cs typeface="Calibri" pitchFamily="34" charset="-120"/>
              </a:rPr>
              <a:t>That's what makes your rating trustworthy.</a:t>
            </a:r>
            <a:endParaRPr lang="en-US" sz="1300" dirty="0"/>
          </a:p>
        </p:txBody>
      </p:sp>
      <p:sp>
        <p:nvSpPr>
          <p:cNvPr id="9" name="Shape 7"/>
          <p:cNvSpPr/>
          <p:nvPr/>
        </p:nvSpPr>
        <p:spPr>
          <a:xfrm>
            <a:off x="640080" y="3291840"/>
            <a:ext cx="6492240" cy="1188720"/>
          </a:xfrm>
          <a:prstGeom prst="roundRect">
            <a:avLst>
              <a:gd name="adj" fmla="val 8462"/>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0" name="Shape 8"/>
          <p:cNvSpPr/>
          <p:nvPr/>
        </p:nvSpPr>
        <p:spPr>
          <a:xfrm>
            <a:off x="950976" y="3639312"/>
            <a:ext cx="457200" cy="457200"/>
          </a:xfrm>
          <a:prstGeom prst="ellipse">
            <a:avLst/>
          </a:prstGeom>
          <a:solidFill>
            <a:srgbClr val="0E7C86"/>
          </a:solidFill>
          <a:ln/>
        </p:spPr>
        <p:txBody>
          <a:bodyPr/>
          <a:lstStyle/>
          <a:p>
            <a:endParaRPr lang="en-US"/>
          </a:p>
        </p:txBody>
      </p:sp>
      <p:sp>
        <p:nvSpPr>
          <p:cNvPr id="11" name="Text 9"/>
          <p:cNvSpPr/>
          <p:nvPr/>
        </p:nvSpPr>
        <p:spPr>
          <a:xfrm>
            <a:off x="950976" y="36393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600200" y="3474720"/>
            <a:ext cx="5303520" cy="411480"/>
          </a:xfrm>
          <a:prstGeom prst="rect">
            <a:avLst/>
          </a:prstGeom>
          <a:noFill/>
          <a:ln/>
        </p:spPr>
        <p:txBody>
          <a:bodyPr wrap="square" lIns="0" tIns="0" rIns="0" bIns="0" rtlCol="0" anchor="ctr"/>
          <a:lstStyle/>
          <a:p>
            <a:pPr marL="0" indent="0">
              <a:buNone/>
            </a:pPr>
            <a:r>
              <a:rPr lang="en-US" sz="1650" b="1" dirty="0">
                <a:solidFill>
                  <a:srgbClr val="17323B"/>
                </a:solidFill>
                <a:latin typeface="Calibri" pitchFamily="34" charset="0"/>
                <a:ea typeface="Calibri" pitchFamily="34" charset="-122"/>
                <a:cs typeface="Calibri" pitchFamily="34" charset="-120"/>
              </a:rPr>
              <a:t>Try the hard stuff</a:t>
            </a:r>
            <a:endParaRPr lang="en-US" sz="1650" dirty="0"/>
          </a:p>
        </p:txBody>
      </p:sp>
      <p:sp>
        <p:nvSpPr>
          <p:cNvPr id="13" name="Text 11"/>
          <p:cNvSpPr/>
          <p:nvPr/>
        </p:nvSpPr>
        <p:spPr>
          <a:xfrm>
            <a:off x="1600200" y="3867912"/>
            <a:ext cx="5303520" cy="457200"/>
          </a:xfrm>
          <a:prstGeom prst="rect">
            <a:avLst/>
          </a:prstGeom>
          <a:noFill/>
          <a:ln/>
        </p:spPr>
        <p:txBody>
          <a:bodyPr wrap="square" lIns="0" tIns="0" rIns="0" bIns="0" rtlCol="0" anchor="ctr"/>
          <a:lstStyle/>
          <a:p>
            <a:pPr marL="0" indent="0">
              <a:buNone/>
            </a:pPr>
            <a:r>
              <a:rPr lang="en-US" sz="1300" dirty="0">
                <a:solidFill>
                  <a:srgbClr val="5F777F"/>
                </a:solidFill>
                <a:latin typeface="Calibri" pitchFamily="34" charset="0"/>
                <a:ea typeface="Calibri" pitchFamily="34" charset="-122"/>
                <a:cs typeface="Calibri" pitchFamily="34" charset="-120"/>
              </a:rPr>
              <a:t>Paste tracebacks, ask version-specific &amp; cross-app questions.</a:t>
            </a:r>
            <a:endParaRPr lang="en-US" sz="1300" dirty="0"/>
          </a:p>
        </p:txBody>
      </p:sp>
      <p:sp>
        <p:nvSpPr>
          <p:cNvPr id="14" name="Shape 12"/>
          <p:cNvSpPr/>
          <p:nvPr/>
        </p:nvSpPr>
        <p:spPr>
          <a:xfrm>
            <a:off x="640080" y="4617720"/>
            <a:ext cx="6492240" cy="1188720"/>
          </a:xfrm>
          <a:prstGeom prst="roundRect">
            <a:avLst>
              <a:gd name="adj" fmla="val 8462"/>
            </a:avLst>
          </a:prstGeom>
          <a:solidFill>
            <a:srgbClr val="EEF5F6"/>
          </a:solidFill>
          <a:ln w="12700">
            <a:solidFill>
              <a:srgbClr val="D5E2E5"/>
            </a:solidFill>
            <a:prstDash val="solid"/>
          </a:ln>
          <a:effectLst>
            <a:outerShdw blurRad="114300" dist="38100" dir="5400000" algn="bl" rotWithShape="0">
              <a:srgbClr val="0A2530">
                <a:alpha val="16000"/>
              </a:srgbClr>
            </a:outerShdw>
          </a:effectLst>
        </p:spPr>
        <p:txBody>
          <a:bodyPr/>
          <a:lstStyle/>
          <a:p>
            <a:endParaRPr lang="en-US"/>
          </a:p>
        </p:txBody>
      </p:sp>
      <p:sp>
        <p:nvSpPr>
          <p:cNvPr id="15" name="Shape 13"/>
          <p:cNvSpPr/>
          <p:nvPr/>
        </p:nvSpPr>
        <p:spPr>
          <a:xfrm>
            <a:off x="950976" y="4965192"/>
            <a:ext cx="457200" cy="457200"/>
          </a:xfrm>
          <a:prstGeom prst="ellipse">
            <a:avLst/>
          </a:prstGeom>
          <a:solidFill>
            <a:srgbClr val="0E7C86"/>
          </a:solidFill>
          <a:ln/>
        </p:spPr>
        <p:txBody>
          <a:bodyPr/>
          <a:lstStyle/>
          <a:p>
            <a:endParaRPr lang="en-US"/>
          </a:p>
        </p:txBody>
      </p:sp>
      <p:sp>
        <p:nvSpPr>
          <p:cNvPr id="16" name="Text 14"/>
          <p:cNvSpPr/>
          <p:nvPr/>
        </p:nvSpPr>
        <p:spPr>
          <a:xfrm>
            <a:off x="950976" y="49651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600200" y="4800600"/>
            <a:ext cx="5303520" cy="411480"/>
          </a:xfrm>
          <a:prstGeom prst="rect">
            <a:avLst/>
          </a:prstGeom>
          <a:noFill/>
          <a:ln/>
        </p:spPr>
        <p:txBody>
          <a:bodyPr wrap="square" lIns="0" tIns="0" rIns="0" bIns="0" rtlCol="0" anchor="ctr"/>
          <a:lstStyle/>
          <a:p>
            <a:pPr marL="0" indent="0">
              <a:buNone/>
            </a:pPr>
            <a:r>
              <a:rPr lang="en-US" sz="1650" b="1" dirty="0">
                <a:solidFill>
                  <a:srgbClr val="17323B"/>
                </a:solidFill>
                <a:latin typeface="Calibri" pitchFamily="34" charset="0"/>
                <a:ea typeface="Calibri" pitchFamily="34" charset="-122"/>
                <a:cs typeface="Calibri" pitchFamily="34" charset="-120"/>
              </a:rPr>
              <a:t>Rate every answer</a:t>
            </a:r>
            <a:endParaRPr lang="en-US" sz="1650" dirty="0"/>
          </a:p>
        </p:txBody>
      </p:sp>
      <p:sp>
        <p:nvSpPr>
          <p:cNvPr id="18" name="Text 16"/>
          <p:cNvSpPr/>
          <p:nvPr/>
        </p:nvSpPr>
        <p:spPr>
          <a:xfrm>
            <a:off x="1600200" y="5193792"/>
            <a:ext cx="5303520" cy="457200"/>
          </a:xfrm>
          <a:prstGeom prst="rect">
            <a:avLst/>
          </a:prstGeom>
          <a:noFill/>
          <a:ln/>
        </p:spPr>
        <p:txBody>
          <a:bodyPr wrap="square" lIns="0" tIns="0" rIns="0" bIns="0" rtlCol="0" anchor="ctr"/>
          <a:lstStyle/>
          <a:p>
            <a:pPr marL="0" indent="0">
              <a:buNone/>
            </a:pPr>
            <a:r>
              <a:rPr lang="en-US" sz="1300" dirty="0">
                <a:solidFill>
                  <a:srgbClr val="5F777F"/>
                </a:solidFill>
                <a:latin typeface="Calibri" pitchFamily="34" charset="0"/>
                <a:ea typeface="Calibri" pitchFamily="34" charset="-122"/>
                <a:cs typeface="Calibri" pitchFamily="34" charset="-120"/>
              </a:rPr>
              <a:t>Thumbs, a category if it's off, and the correct URL when you know it.</a:t>
            </a:r>
            <a:endParaRPr lang="en-US" sz="1300" dirty="0"/>
          </a:p>
        </p:txBody>
      </p:sp>
      <p:sp>
        <p:nvSpPr>
          <p:cNvPr id="19" name="Shape 17"/>
          <p:cNvSpPr/>
          <p:nvPr/>
        </p:nvSpPr>
        <p:spPr>
          <a:xfrm>
            <a:off x="7498080" y="1965960"/>
            <a:ext cx="4053535" cy="2331720"/>
          </a:xfrm>
          <a:prstGeom prst="roundRect">
            <a:avLst>
              <a:gd name="adj" fmla="val 3922"/>
            </a:avLst>
          </a:prstGeom>
          <a:solidFill>
            <a:srgbClr val="0F2E3D"/>
          </a:solidFill>
          <a:ln/>
          <a:effectLst>
            <a:outerShdw blurRad="114300" dist="38100" dir="5400000" algn="bl" rotWithShape="0">
              <a:srgbClr val="0A2530">
                <a:alpha val="16000"/>
              </a:srgbClr>
            </a:outerShdw>
          </a:effectLst>
        </p:spPr>
        <p:txBody>
          <a:bodyPr/>
          <a:lstStyle/>
          <a:p>
            <a:endParaRPr lang="en-US"/>
          </a:p>
        </p:txBody>
      </p:sp>
      <p:sp>
        <p:nvSpPr>
          <p:cNvPr id="20" name="Text 18"/>
          <p:cNvSpPr/>
          <p:nvPr/>
        </p:nvSpPr>
        <p:spPr>
          <a:xfrm>
            <a:off x="7818120" y="2212848"/>
            <a:ext cx="7315200" cy="274320"/>
          </a:xfrm>
          <a:prstGeom prst="rect">
            <a:avLst/>
          </a:prstGeom>
          <a:noFill/>
          <a:ln/>
        </p:spPr>
        <p:txBody>
          <a:bodyPr wrap="square" lIns="0" tIns="0" rIns="0" bIns="0" rtlCol="0" anchor="ctr"/>
          <a:lstStyle/>
          <a:p>
            <a:pPr marL="0" indent="0">
              <a:buNone/>
            </a:pPr>
            <a:r>
              <a:rPr lang="en-US" sz="1200" b="1" kern="0" spc="300" dirty="0">
                <a:solidFill>
                  <a:srgbClr val="17B39B"/>
                </a:solidFill>
                <a:latin typeface="Calibri" pitchFamily="34" charset="0"/>
                <a:ea typeface="Calibri" pitchFamily="34" charset="-122"/>
                <a:cs typeface="Calibri" pitchFamily="34" charset="-120"/>
              </a:rPr>
              <a:t>GETTING IN</a:t>
            </a:r>
            <a:endParaRPr lang="en-US" sz="1200" dirty="0"/>
          </a:p>
        </p:txBody>
      </p:sp>
      <p:sp>
        <p:nvSpPr>
          <p:cNvPr id="21" name="Text 19"/>
          <p:cNvSpPr/>
          <p:nvPr/>
        </p:nvSpPr>
        <p:spPr>
          <a:xfrm>
            <a:off x="7955280" y="2606040"/>
            <a:ext cx="3322015" cy="1463040"/>
          </a:xfrm>
          <a:prstGeom prst="rect">
            <a:avLst/>
          </a:prstGeom>
          <a:noFill/>
          <a:ln/>
        </p:spPr>
        <p:txBody>
          <a:bodyPr wrap="square" lIns="0" tIns="0" rIns="0" bIns="0" rtlCol="0" anchor="ctr"/>
          <a:lstStyle/>
          <a:p>
            <a:pPr marL="342900" indent="-342900">
              <a:spcAft>
                <a:spcPts val="900"/>
              </a:spcAft>
              <a:buSzPct val="100000"/>
              <a:buChar char="•"/>
            </a:pPr>
            <a:r>
              <a:rPr lang="en-US" sz="1500" dirty="0">
                <a:solidFill>
                  <a:srgbClr val="EEF5F6"/>
                </a:solidFill>
                <a:latin typeface="Calibri" pitchFamily="34" charset="0"/>
                <a:ea typeface="Calibri" pitchFamily="34" charset="-122"/>
                <a:cs typeface="Calibri" pitchFamily="34" charset="-120"/>
              </a:rPr>
              <a:t>Open the link + shared password</a:t>
            </a:r>
            <a:endParaRPr lang="en-US" sz="1500" dirty="0"/>
          </a:p>
          <a:p>
            <a:pPr marL="342900" indent="-342900">
              <a:spcAft>
                <a:spcPts val="900"/>
              </a:spcAft>
              <a:buSzPct val="100000"/>
              <a:buChar char="•"/>
            </a:pPr>
            <a:r>
              <a:rPr lang="en-US" sz="1500" dirty="0">
                <a:solidFill>
                  <a:srgbClr val="EEF5F6"/>
                </a:solidFill>
                <a:latin typeface="Calibri" pitchFamily="34" charset="0"/>
                <a:ea typeface="Calibri" pitchFamily="34" charset="-122"/>
                <a:cs typeface="Calibri" pitchFamily="34" charset="-120"/>
              </a:rPr>
              <a:t>Pick a tool from the home page</a:t>
            </a:r>
            <a:endParaRPr lang="en-US" sz="1500" dirty="0"/>
          </a:p>
          <a:p>
            <a:pPr marL="342900" indent="-342900">
              <a:spcAft>
                <a:spcPts val="900"/>
              </a:spcAft>
              <a:buSzPct val="100000"/>
              <a:buChar char="•"/>
            </a:pPr>
            <a:r>
              <a:rPr lang="en-US" sz="1500" dirty="0">
                <a:solidFill>
                  <a:srgbClr val="EEF5F6"/>
                </a:solidFill>
                <a:latin typeface="Calibri" pitchFamily="34" charset="0"/>
                <a:ea typeface="Calibri" pitchFamily="34" charset="-122"/>
                <a:cs typeface="Calibri" pitchFamily="34" charset="-120"/>
              </a:rPr>
              <a:t>Ask — then rate the answer</a:t>
            </a:r>
            <a:endParaRPr lang="en-US" sz="1500" dirty="0"/>
          </a:p>
        </p:txBody>
      </p:sp>
      <p:sp>
        <p:nvSpPr>
          <p:cNvPr id="22" name="Shape 20"/>
          <p:cNvSpPr/>
          <p:nvPr/>
        </p:nvSpPr>
        <p:spPr>
          <a:xfrm>
            <a:off x="7498080" y="4526280"/>
            <a:ext cx="4053535" cy="1143000"/>
          </a:xfrm>
          <a:prstGeom prst="roundRect">
            <a:avLst>
              <a:gd name="adj" fmla="val 8000"/>
            </a:avLst>
          </a:prstGeom>
          <a:solidFill>
            <a:srgbClr val="FBF1E0"/>
          </a:solidFill>
          <a:ln w="19050">
            <a:solidFill>
              <a:srgbClr val="E8A33D"/>
            </a:solidFill>
            <a:prstDash val="solid"/>
          </a:ln>
        </p:spPr>
        <p:txBody>
          <a:bodyPr/>
          <a:lstStyle/>
          <a:p>
            <a:endParaRPr lang="en-US"/>
          </a:p>
        </p:txBody>
      </p:sp>
      <p:sp>
        <p:nvSpPr>
          <p:cNvPr id="23" name="Text 21"/>
          <p:cNvSpPr/>
          <p:nvPr/>
        </p:nvSpPr>
        <p:spPr>
          <a:xfrm>
            <a:off x="7818120" y="4663440"/>
            <a:ext cx="3413455" cy="868680"/>
          </a:xfrm>
          <a:prstGeom prst="rect">
            <a:avLst/>
          </a:prstGeom>
          <a:noFill/>
          <a:ln/>
        </p:spPr>
        <p:txBody>
          <a:bodyPr wrap="square" lIns="0" tIns="0" rIns="0" bIns="0" rtlCol="0" anchor="ctr"/>
          <a:lstStyle/>
          <a:p>
            <a:pPr marL="0" indent="0">
              <a:buNone/>
            </a:pPr>
            <a:r>
              <a:rPr lang="en-US" sz="1350" b="1" dirty="0">
                <a:solidFill>
                  <a:srgbClr val="B9822A"/>
                </a:solidFill>
                <a:latin typeface="Calibri" pitchFamily="34" charset="0"/>
                <a:ea typeface="Calibri" pitchFamily="34" charset="-122"/>
                <a:cs typeface="Calibri" pitchFamily="34" charset="-120"/>
              </a:rPr>
              <a:t>⚠  Testing preview.  </a:t>
            </a:r>
            <a:r>
              <a:rPr lang="en-US" sz="1350" dirty="0">
                <a:solidFill>
                  <a:srgbClr val="7A5A22"/>
                </a:solidFill>
                <a:latin typeface="Calibri" pitchFamily="34" charset="0"/>
                <a:ea typeface="Calibri" pitchFamily="34" charset="-122"/>
                <a:cs typeface="Calibri" pitchFamily="34" charset="-120"/>
              </a:rPr>
              <a:t>Chat history is saved for evaluation — please don't enter personal or sensitive info.</a:t>
            </a:r>
            <a:endParaRPr lang="en-US" sz="1350" dirty="0"/>
          </a:p>
        </p:txBody>
      </p:sp>
      <p:sp>
        <p:nvSpPr>
          <p:cNvPr id="24" name="Text 22"/>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25" name="Text 23"/>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E3D"/>
        </a:solidFill>
        <a:effectLst/>
      </p:bgPr>
    </p:bg>
    <p:spTree>
      <p:nvGrpSpPr>
        <p:cNvPr id="1" name=""/>
        <p:cNvGrpSpPr/>
        <p:nvPr/>
      </p:nvGrpSpPr>
      <p:grpSpPr>
        <a:xfrm>
          <a:off x="0" y="0"/>
          <a:ext cx="0" cy="0"/>
          <a:chOff x="0" y="0"/>
          <a:chExt cx="0" cy="0"/>
        </a:xfrm>
      </p:grpSpPr>
      <p:sp>
        <p:nvSpPr>
          <p:cNvPr id="2" name="Shape 0"/>
          <p:cNvSpPr/>
          <p:nvPr/>
        </p:nvSpPr>
        <p:spPr>
          <a:xfrm>
            <a:off x="-1828800" y="3291840"/>
            <a:ext cx="5486400" cy="5486400"/>
          </a:xfrm>
          <a:prstGeom prst="ellipse">
            <a:avLst/>
          </a:prstGeom>
          <a:solidFill>
            <a:srgbClr val="0A5A62">
              <a:alpha val="40000"/>
            </a:srgbClr>
          </a:solidFill>
          <a:ln/>
        </p:spPr>
        <p:txBody>
          <a:bodyPr/>
          <a:lstStyle/>
          <a:p>
            <a:endParaRPr lang="en-US"/>
          </a:p>
        </p:txBody>
      </p:sp>
      <p:sp>
        <p:nvSpPr>
          <p:cNvPr id="3" name="Shape 1"/>
          <p:cNvSpPr/>
          <p:nvPr/>
        </p:nvSpPr>
        <p:spPr>
          <a:xfrm>
            <a:off x="9875520" y="-2011680"/>
            <a:ext cx="4754880" cy="4754880"/>
          </a:xfrm>
          <a:prstGeom prst="ellipse">
            <a:avLst/>
          </a:prstGeom>
          <a:solidFill>
            <a:srgbClr val="17B39B">
              <a:alpha val="20000"/>
            </a:srgbClr>
          </a:solidFill>
          <a:ln/>
        </p:spPr>
        <p:txBody>
          <a:bodyPr/>
          <a:lstStyle/>
          <a:p>
            <a:endParaRPr lang="en-US"/>
          </a:p>
        </p:txBody>
      </p:sp>
      <p:sp>
        <p:nvSpPr>
          <p:cNvPr id="4" name="Text 2"/>
          <p:cNvSpPr/>
          <p:nvPr/>
        </p:nvSpPr>
        <p:spPr>
          <a:xfrm>
            <a:off x="640080" y="2468880"/>
            <a:ext cx="10058400" cy="10972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Let's break it.</a:t>
            </a:r>
            <a:endParaRPr lang="en-US" sz="5200" dirty="0"/>
          </a:p>
        </p:txBody>
      </p:sp>
      <p:sp>
        <p:nvSpPr>
          <p:cNvPr id="5" name="Text 3"/>
          <p:cNvSpPr/>
          <p:nvPr/>
        </p:nvSpPr>
        <p:spPr>
          <a:xfrm>
            <a:off x="640080" y="3657600"/>
            <a:ext cx="10515600" cy="548640"/>
          </a:xfrm>
          <a:prstGeom prst="rect">
            <a:avLst/>
          </a:prstGeom>
          <a:noFill/>
          <a:ln/>
        </p:spPr>
        <p:txBody>
          <a:bodyPr wrap="square" lIns="0" tIns="0" rIns="0" bIns="0" rtlCol="0" anchor="ctr"/>
          <a:lstStyle/>
          <a:p>
            <a:pPr marL="0" indent="0">
              <a:buNone/>
            </a:pPr>
            <a:r>
              <a:rPr lang="en-US" sz="1900" dirty="0">
                <a:solidFill>
                  <a:srgbClr val="EEF5F6"/>
                </a:solidFill>
                <a:latin typeface="Calibri" pitchFamily="34" charset="0"/>
                <a:ea typeface="Calibri" pitchFamily="34" charset="-122"/>
                <a:cs typeface="Calibri" pitchFamily="34" charset="-120"/>
              </a:rPr>
              <a:t>Ask hard questions · rate every answer · paste the correct source when you know it</a:t>
            </a:r>
            <a:endParaRPr lang="en-US" sz="1900" dirty="0"/>
          </a:p>
        </p:txBody>
      </p:sp>
      <p:sp>
        <p:nvSpPr>
          <p:cNvPr id="6" name="Text 4"/>
          <p:cNvSpPr/>
          <p:nvPr/>
        </p:nvSpPr>
        <p:spPr>
          <a:xfrm>
            <a:off x="640080" y="4343400"/>
            <a:ext cx="10515600" cy="457200"/>
          </a:xfrm>
          <a:prstGeom prst="rect">
            <a:avLst/>
          </a:prstGeom>
          <a:noFill/>
          <a:ln/>
        </p:spPr>
        <p:txBody>
          <a:bodyPr wrap="square" lIns="0" tIns="0" rIns="0" bIns="0" rtlCol="0" anchor="ctr"/>
          <a:lstStyle/>
          <a:p>
            <a:pPr marL="0" indent="0">
              <a:buNone/>
            </a:pPr>
            <a:r>
              <a:rPr lang="en-US" sz="1500" i="1" dirty="0">
                <a:solidFill>
                  <a:srgbClr val="17B39B"/>
                </a:solidFill>
                <a:latin typeface="Calibri" pitchFamily="34" charset="0"/>
                <a:ea typeface="Calibri" pitchFamily="34" charset="-122"/>
                <a:cs typeface="Calibri" pitchFamily="34" charset="-120"/>
              </a:rPr>
              <a:t>Every rating you log today becomes a test that keeps the assistant honest.</a:t>
            </a:r>
            <a:endParaRPr lang="en-US" sz="1500" dirty="0"/>
          </a:p>
        </p:txBody>
      </p:sp>
      <p:sp>
        <p:nvSpPr>
          <p:cNvPr id="7" name="Text 5"/>
          <p:cNvSpPr/>
          <p:nvPr/>
        </p:nvSpPr>
        <p:spPr>
          <a:xfrm>
            <a:off x="640080" y="6473952"/>
            <a:ext cx="5486400" cy="274320"/>
          </a:xfrm>
          <a:prstGeom prst="rect">
            <a:avLst/>
          </a:prstGeom>
          <a:noFill/>
          <a:ln/>
        </p:spPr>
        <p:txBody>
          <a:bodyPr wrap="square" lIns="0" tIns="0" rIns="0" bIns="0" rtlCol="0" anchor="ctr"/>
          <a:lstStyle/>
          <a:p>
            <a:pPr marL="0" indent="0" algn="l">
              <a:buNone/>
            </a:pPr>
            <a:r>
              <a:rPr lang="en-US" sz="900" dirty="0">
                <a:solidFill>
                  <a:srgbClr val="5F777F"/>
                </a:solidFill>
                <a:latin typeface="Calibri" pitchFamily="34" charset="0"/>
                <a:ea typeface="Calibri" pitchFamily="34" charset="-122"/>
                <a:cs typeface="Calibri" pitchFamily="34" charset="-120"/>
              </a:rPr>
              <a:t>PennLINC Assistant</a:t>
            </a:r>
            <a:endParaRPr lang="en-US" sz="900" dirty="0"/>
          </a:p>
        </p:txBody>
      </p:sp>
      <p:sp>
        <p:nvSpPr>
          <p:cNvPr id="8" name="Text 6"/>
          <p:cNvSpPr/>
          <p:nvPr/>
        </p:nvSpPr>
        <p:spPr>
          <a:xfrm>
            <a:off x="11002975" y="6473952"/>
            <a:ext cx="548640" cy="274320"/>
          </a:xfrm>
          <a:prstGeom prst="rect">
            <a:avLst/>
          </a:prstGeom>
          <a:noFill/>
          <a:ln/>
        </p:spPr>
        <p:txBody>
          <a:bodyPr wrap="square" lIns="0" tIns="0" rIns="0" bIns="0" rtlCol="0" anchor="ctr"/>
          <a:lstStyle/>
          <a:p>
            <a:pPr marL="0" indent="0" algn="r">
              <a:buNone/>
            </a:pPr>
            <a:r>
              <a:rPr lang="en-US" sz="900" dirty="0">
                <a:solidFill>
                  <a:srgbClr val="5F777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1734</Words>
  <Application>Microsoft Macintosh PowerPoint</Application>
  <PresentationFormat>Widescreen</PresentationFormat>
  <Paragraphs>192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Singleton, Parker</cp:lastModifiedBy>
  <cp:revision>2</cp:revision>
  <dcterms:created xsi:type="dcterms:W3CDTF">2026-08-14T23:45:32Z</dcterms:created>
  <dcterms:modified xsi:type="dcterms:W3CDTF">2026-08-14T23:56:38Z</dcterms:modified>
</cp:coreProperties>
</file>